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36592" y="0"/>
            <a:ext cx="45720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365760"/>
            <a:ext cx="822960" cy="1188720"/>
          </a:xfrm>
          <a:prstGeom prst="rect">
            <a:avLst/>
          </a:prstGeom>
          <a:solidFill>
            <a:srgbClr val="132040">
              <a:alpha val="70000"/>
            </a:srgbClr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1828800"/>
            <a:ext cx="822960" cy="1188720"/>
          </a:xfrm>
          <a:prstGeom prst="rect">
            <a:avLst/>
          </a:prstGeom>
          <a:solidFill>
            <a:srgbClr val="132040">
              <a:alpha val="70000"/>
            </a:srgbClr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3291840"/>
            <a:ext cx="822960" cy="1188720"/>
          </a:xfrm>
          <a:prstGeom prst="rect">
            <a:avLst/>
          </a:prstGeom>
          <a:solidFill>
            <a:srgbClr val="132040">
              <a:alpha val="70000"/>
            </a:srgbClr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365760"/>
            <a:ext cx="822960" cy="1188720"/>
          </a:xfrm>
          <a:prstGeom prst="rect">
            <a:avLst/>
          </a:prstGeom>
          <a:solidFill>
            <a:srgbClr val="132040">
              <a:alpha val="70000"/>
            </a:srgbClr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1828800"/>
            <a:ext cx="822960" cy="1188720"/>
          </a:xfrm>
          <a:prstGeom prst="rect">
            <a:avLst/>
          </a:prstGeom>
          <a:solidFill>
            <a:srgbClr val="132040">
              <a:alpha val="70000"/>
            </a:srgbClr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3291840"/>
            <a:ext cx="822960" cy="1188720"/>
          </a:xfrm>
          <a:prstGeom prst="rect">
            <a:avLst/>
          </a:prstGeom>
          <a:solidFill>
            <a:srgbClr val="132040">
              <a:alpha val="70000"/>
            </a:srgbClr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0" y="365760"/>
            <a:ext cx="822960" cy="1188720"/>
          </a:xfrm>
          <a:prstGeom prst="rect">
            <a:avLst/>
          </a:prstGeom>
          <a:solidFill>
            <a:srgbClr val="132040">
              <a:alpha val="70000"/>
            </a:srgbClr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0" y="1828800"/>
            <a:ext cx="822960" cy="1188720"/>
          </a:xfrm>
          <a:prstGeom prst="rect">
            <a:avLst/>
          </a:prstGeom>
          <a:solidFill>
            <a:srgbClr val="132040">
              <a:alpha val="70000"/>
            </a:srgbClr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0" y="3291840"/>
            <a:ext cx="822960" cy="1188720"/>
          </a:xfrm>
          <a:prstGeom prst="rect">
            <a:avLst/>
          </a:prstGeom>
          <a:solidFill>
            <a:srgbClr val="132040">
              <a:alpha val="70000"/>
            </a:srgbClr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365760"/>
            <a:ext cx="822960" cy="1188720"/>
          </a:xfrm>
          <a:prstGeom prst="rect">
            <a:avLst/>
          </a:prstGeom>
          <a:solidFill>
            <a:srgbClr val="132040">
              <a:alpha val="70000"/>
            </a:srgbClr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828800"/>
            <a:ext cx="822960" cy="1188720"/>
          </a:xfrm>
          <a:prstGeom prst="rect">
            <a:avLst/>
          </a:prstGeom>
          <a:solidFill>
            <a:srgbClr val="132040">
              <a:alpha val="70000"/>
            </a:srgbClr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3291840"/>
            <a:ext cx="822960" cy="1188720"/>
          </a:xfrm>
          <a:prstGeom prst="rect">
            <a:avLst/>
          </a:prstGeom>
          <a:solidFill>
            <a:srgbClr val="132040">
              <a:alpha val="70000"/>
            </a:srgbClr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365760"/>
            <a:ext cx="822960" cy="1188720"/>
          </a:xfrm>
          <a:prstGeom prst="rect">
            <a:avLst/>
          </a:prstGeom>
          <a:solidFill>
            <a:srgbClr val="00C2FF">
              <a:alpha val="20000"/>
            </a:srgbClr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828800"/>
            <a:ext cx="822960" cy="1188720"/>
          </a:xfrm>
          <a:prstGeom prst="rect">
            <a:avLst/>
          </a:prstGeom>
          <a:solidFill>
            <a:srgbClr val="FF6B35">
              <a:alpha val="20000"/>
            </a:srgbClr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6400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800" kern="0" dirty="0">
                <a:solidFill>
                  <a:srgbClr val="00C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411480" y="12801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KYC</a:t>
            </a:r>
            <a:endParaRPr lang="en-US" sz="4800" dirty="0"/>
          </a:p>
        </p:txBody>
      </p:sp>
      <p:sp>
        <p:nvSpPr>
          <p:cNvPr id="21" name="Shape 19"/>
          <p:cNvSpPr/>
          <p:nvPr/>
        </p:nvSpPr>
        <p:spPr>
          <a:xfrm>
            <a:off x="411480" y="2103120"/>
            <a:ext cx="201168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2402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F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KYC / AML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F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Platform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" y="3200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identity verification  ·  Multi-agent risk investigation  ·  AI document extraction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703320"/>
            <a:ext cx="914400" cy="237744"/>
          </a:xfrm>
          <a:prstGeom prst="rect">
            <a:avLst/>
          </a:prstGeom>
          <a:solidFill>
            <a:srgbClr val="00C2FF">
              <a:alpha val="25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7033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2FF"/>
                </a:solidFill>
              </a:rPr>
              <a:t>Gemini Vision AI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399032" y="3703320"/>
            <a:ext cx="914400" cy="237744"/>
          </a:xfrm>
          <a:prstGeom prst="rect">
            <a:avLst/>
          </a:prstGeom>
          <a:solidFill>
            <a:srgbClr val="00C2FF">
              <a:alpha val="25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99032" y="37033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2FF"/>
                </a:solidFill>
              </a:rPr>
              <a:t>FastAPI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386584" y="3703320"/>
            <a:ext cx="914400" cy="237744"/>
          </a:xfrm>
          <a:prstGeom prst="rect">
            <a:avLst/>
          </a:prstGeom>
          <a:solidFill>
            <a:srgbClr val="00C2FF">
              <a:alpha val="25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86584" y="37033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2FF"/>
                </a:solidFill>
              </a:rPr>
              <a:t>React + TS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374136" y="3703320"/>
            <a:ext cx="914400" cy="237744"/>
          </a:xfrm>
          <a:prstGeom prst="rect">
            <a:avLst/>
          </a:prstGeom>
          <a:solidFill>
            <a:srgbClr val="00C2FF">
              <a:alpha val="25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74136" y="37033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2FF"/>
                </a:solidFill>
              </a:rPr>
              <a:t>Multi-Agent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5020056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A3C7"/>
                </a:solidFill>
              </a:rPr>
              <a:t>SmartKYC — CONFIDENTIAL  |  Leadership Demo 2026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046720" y="5001768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A3C7"/>
                </a:solidFill>
              </a:rPr>
              <a:t>1 / 10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COMPLIANCE CHALLENGE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Traditional KYC is broken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023360" cy="1554480"/>
          </a:xfrm>
          <a:prstGeom prst="rect">
            <a:avLst/>
          </a:prstGeom>
          <a:solidFill>
            <a:srgbClr val="13204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45720" cy="1554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807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15–30 days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38912" y="17830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A3C7"/>
                </a:solidFill>
              </a:rPr>
              <a:t>AVG. ONBOARDING TIME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8912" y="201168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F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document review creates backlogs and customer frustration across compliance teams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4023360" cy="1554480"/>
          </a:xfrm>
          <a:prstGeom prst="rect">
            <a:avLst/>
          </a:prstGeom>
          <a:solidFill>
            <a:srgbClr val="13204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234440"/>
            <a:ext cx="45720" cy="1554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13807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$5–50M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82312" y="17830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A3C7"/>
                </a:solidFill>
              </a:rPr>
              <a:t>AML FINE PER BREACH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82312" y="201168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F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penalties increasing year-over-year as global AML frameworks tighten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4023360" cy="1554480"/>
          </a:xfrm>
          <a:prstGeom prst="rect">
            <a:avLst/>
          </a:prstGeom>
          <a:solidFill>
            <a:srgbClr val="132040"/>
          </a:solidFill>
          <a:ln w="1270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71800"/>
            <a:ext cx="45720" cy="155448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11810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72% manual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38912" y="35204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A3C7"/>
                </a:solidFill>
              </a:rPr>
              <a:t>REVIEW PROCESS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38912" y="374904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F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analysts overwhelmed — inconsistent and error-prone decisions under pressure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2971800"/>
            <a:ext cx="4023360" cy="1554480"/>
          </a:xfrm>
          <a:prstGeom prst="rect">
            <a:avLst/>
          </a:prstGeom>
          <a:solidFill>
            <a:srgbClr val="132040"/>
          </a:solidFill>
          <a:ln w="1270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971800"/>
            <a:ext cx="45720" cy="155448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311810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 missed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782312" y="35204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A3C7"/>
                </a:solidFill>
              </a:rPr>
              <a:t>HIGH-RISK SIGNALS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82312" y="374904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F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data checks miss cross-source flags — PEP, sanctions, adverse media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5020056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A3C7"/>
                </a:solidFill>
              </a:rPr>
              <a:t>SmartKYC — CONFIDENTIAL  |  Leadership Demo 2026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046720" y="5001768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A3C7"/>
                </a:solidFill>
              </a:rPr>
              <a:t>2 / 10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2FF"/>
                </a:solidFill>
              </a:rPr>
              <a:t>SMARTKYC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End-to-end automation — intake to decision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32688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SmartKYC replaces manual workflows with an AI-driven pipeline that extracts, investigates, and surfaces risk — delivering compliance decisions in minutes, not weeks.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72200" y="91440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F5"/>
            </a:solidFill>
            <a:prstDash val="solid"/>
          </a:ln>
          <a:effectLst>
            <a:outerShdw sx="100000" sy="100000" kx="0" ky="0" algn="bl" rotWithShape="0" blurRad="76200" dist="25400" dir="8100000">
              <a:srgbClr val="0A1628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72200" y="914400"/>
            <a:ext cx="41148" cy="84124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36792" y="1005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3 min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336792" y="1389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Document to Risk Score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72200" y="1883664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F5"/>
            </a:solidFill>
            <a:prstDash val="solid"/>
          </a:ln>
          <a:effectLst>
            <a:outerShdw sx="100000" sy="100000" kx="0" ky="0" algn="bl" rotWithShape="0" blurRad="76200" dist="25400" dir="8100000">
              <a:srgbClr val="0A1628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1883664"/>
            <a:ext cx="41148" cy="84124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6792" y="197510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36792" y="23591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ID Document Types Supported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2852928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F5"/>
            </a:solidFill>
            <a:prstDash val="solid"/>
          </a:ln>
          <a:effectLst>
            <a:outerShdw sx="100000" sy="100000" kx="0" ky="0" algn="bl" rotWithShape="0" blurRad="76200" dist="25400" dir="8100000">
              <a:srgbClr val="0A1628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2852928"/>
            <a:ext cx="41148" cy="84124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29443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Agents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36792" y="33284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Parallel AI Investigators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72200" y="3822192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F5"/>
            </a:solidFill>
            <a:prstDash val="solid"/>
          </a:ln>
          <a:effectLst>
            <a:outerShdw sx="100000" sy="100000" kx="0" ky="0" algn="bl" rotWithShape="0" blurRad="76200" dist="25400" dir="8100000">
              <a:srgbClr val="0A1628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3822192"/>
            <a:ext cx="41148" cy="84124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3913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36792" y="4297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Audit Trail Coverage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" y="1645920"/>
            <a:ext cx="55778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sx="100000" sy="100000" kx="0" ky="0" algn="bl" rotWithShape="0" blurRad="76200" dist="25400" dir="8100000">
              <a:srgbClr val="0A1628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" y="174650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9264" y="1709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AI Document Extraction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9264" y="19385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</a:rPr>
              <a:t>Gemini Vision + OCR reads passports, PAN, Aadhaar, driving licences — extracts fields with confidence scores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" y="2331720"/>
            <a:ext cx="55778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sx="100000" sy="100000" kx="0" ky="0" algn="bl" rotWithShape="0" blurRad="76200" dist="25400" dir="8100000">
              <a:srgbClr val="0A1628">
                <a:alpha val="9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" y="243230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🔎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9264" y="23957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Multi-Agent Investigation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9264" y="26243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</a:rPr>
              <a:t>Sanctions, PEP, adverse media, identity &amp; jurisdiction checks run in parallel — risk aggregated automatically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" y="3017520"/>
            <a:ext cx="55778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sx="100000" sy="100000" kx="0" ky="0" algn="bl" rotWithShape="0" blurRad="76200" dist="25400" dir="8100000">
              <a:srgbClr val="0A1628">
                <a:alpha val="9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" y="311810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69264" y="3081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Conversational Intake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9264" y="33101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</a:rPr>
              <a:t>Officers query live case data and onboard subjects via natural language chat with full history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7472" y="3703320"/>
            <a:ext cx="55778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sx="100000" sy="100000" kx="0" ky="0" algn="bl" rotWithShape="0" blurRad="76200" dist="25400" dir="8100000">
              <a:srgbClr val="0A1628">
                <a:alpha val="9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5488" y="380390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👮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69264" y="37673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Human Review Queue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69264" y="39959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</a:rPr>
              <a:t>Prioritised queue with full agent evidence surface for compliance officer approve / reject decisions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5020056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A3C7"/>
                </a:solidFill>
              </a:rPr>
              <a:t>SmartKYC — CONFIDENTIAL  |  Leadership Demo 2026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046720" y="5001768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A3C7"/>
                </a:solidFill>
              </a:rPr>
              <a:t>3 / 10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2FF"/>
                </a:solidFill>
              </a:rPr>
              <a:t>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Full-stack  ·  AI-native  ·  Modular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01168" y="8869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0C2FF"/>
                </a:solidFill>
              </a:rPr>
              <a:t>PRESENTATION  (React + TypeScript + Vite)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82880" y="1060704"/>
            <a:ext cx="1847088" cy="658368"/>
          </a:xfrm>
          <a:prstGeom prst="rect">
            <a:avLst/>
          </a:prstGeom>
          <a:solidFill>
            <a:srgbClr val="1A3A5A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" y="108813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Chat Intake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+ History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76272" y="1060704"/>
            <a:ext cx="1847088" cy="658368"/>
          </a:xfrm>
          <a:prstGeom prst="rect">
            <a:avLst/>
          </a:prstGeom>
          <a:solidFill>
            <a:srgbClr val="1A3A5A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31136" y="108813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Case Detail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+ Edit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69664" y="1060704"/>
            <a:ext cx="1847088" cy="658368"/>
          </a:xfrm>
          <a:prstGeom prst="rect">
            <a:avLst/>
          </a:prstGeom>
          <a:solidFill>
            <a:srgbClr val="1A3A5A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24528" y="108813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Review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Queue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63056" y="1060704"/>
            <a:ext cx="1847088" cy="658368"/>
          </a:xfrm>
          <a:prstGeom prst="rect">
            <a:avLst/>
          </a:prstGeom>
          <a:solidFill>
            <a:srgbClr val="1A3A5A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08813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Dashboard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+ Cases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65008" y="1078992"/>
            <a:ext cx="960120" cy="621792"/>
          </a:xfrm>
          <a:prstGeom prst="rect">
            <a:avLst/>
          </a:prstGeom>
          <a:solidFill>
            <a:srgbClr val="00C2FF">
              <a:alpha val="18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65008" y="1078992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2FF"/>
                </a:solidFill>
              </a:rPr>
              <a:t>Axios REST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0C2FF"/>
                </a:solidFill>
              </a:rPr>
              <a:t>Proxy /api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407408" y="1719072"/>
            <a:ext cx="0" cy="256032"/>
          </a:xfrm>
          <a:prstGeom prst="line">
            <a:avLst/>
          </a:prstGeom>
          <a:noFill/>
          <a:ln w="19050">
            <a:solidFill>
              <a:srgbClr val="8BA3C7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474720" y="1737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3C7"/>
                </a:solidFill>
              </a:rPr>
              <a:t>REST / JSON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01168" y="197510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6B35"/>
                </a:solidFill>
              </a:rPr>
              <a:t>API GATEWAY  (FastAPI · Python · SQLAlchemy Async)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82880" y="2148840"/>
            <a:ext cx="1874520" cy="420624"/>
          </a:xfrm>
          <a:prstGeom prst="rect">
            <a:avLst/>
          </a:prstGeom>
          <a:solidFill>
            <a:srgbClr val="2A1A0A"/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214884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35"/>
                </a:solidFill>
              </a:rPr>
              <a:t>/api/cases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194560" y="2148840"/>
            <a:ext cx="1874520" cy="420624"/>
          </a:xfrm>
          <a:prstGeom prst="rect">
            <a:avLst/>
          </a:prstGeom>
          <a:solidFill>
            <a:srgbClr val="2A1A0A"/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0" y="214884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35"/>
                </a:solidFill>
              </a:rPr>
              <a:t>/api/documents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06240" y="2148840"/>
            <a:ext cx="1874520" cy="420624"/>
          </a:xfrm>
          <a:prstGeom prst="rect">
            <a:avLst/>
          </a:prstGeom>
          <a:solidFill>
            <a:srgbClr val="2A1A0A"/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214884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35"/>
                </a:solidFill>
              </a:rPr>
              <a:t>/api/reviews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2148840"/>
            <a:ext cx="1874520" cy="420624"/>
          </a:xfrm>
          <a:prstGeom prst="rect">
            <a:avLst/>
          </a:prstGeom>
          <a:solidFill>
            <a:srgbClr val="2A1A0A"/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14884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35"/>
                </a:solidFill>
              </a:rPr>
              <a:t>/api/chat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065008" y="2167128"/>
            <a:ext cx="960120" cy="384048"/>
          </a:xfrm>
          <a:prstGeom prst="rect">
            <a:avLst/>
          </a:prstGeom>
          <a:solidFill>
            <a:srgbClr val="FF6B35">
              <a:alpha val="18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65008" y="216712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6B35"/>
                </a:solidFill>
              </a:rPr>
              <a:t>Pydantic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6B35"/>
                </a:solidFill>
              </a:rPr>
              <a:t>Models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407408" y="2569464"/>
            <a:ext cx="0" cy="256032"/>
          </a:xfrm>
          <a:prstGeom prst="line">
            <a:avLst/>
          </a:prstGeom>
          <a:noFill/>
          <a:ln w="19050">
            <a:solidFill>
              <a:srgbClr val="8BA3C7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201168" y="28163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0E5A0"/>
                </a:solidFill>
              </a:rPr>
              <a:t>SERVICE LAYER  (Business logic · Agent orchestration)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82880" y="2980944"/>
            <a:ext cx="1847088" cy="658368"/>
          </a:xfrm>
          <a:prstGeom prst="rect">
            <a:avLst/>
          </a:prstGeom>
          <a:solidFill>
            <a:srgbClr val="0A2A18"/>
          </a:solidFill>
          <a:ln w="15240">
            <a:solidFill>
              <a:srgbClr val="00E5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2980944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A0"/>
                </a:solidFill>
              </a:rPr>
              <a:t>Document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E5A0"/>
                </a:solidFill>
              </a:rPr>
              <a:t>Service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176272" y="2980944"/>
            <a:ext cx="1847088" cy="658368"/>
          </a:xfrm>
          <a:prstGeom prst="rect">
            <a:avLst/>
          </a:prstGeom>
          <a:solidFill>
            <a:srgbClr val="0A2A18"/>
          </a:solidFill>
          <a:ln w="15240">
            <a:solidFill>
              <a:srgbClr val="00E5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76272" y="2980944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A0"/>
                </a:solidFill>
              </a:rPr>
              <a:t>Investigation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E5A0"/>
                </a:solidFill>
              </a:rPr>
              <a:t>Orchestrator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69664" y="2980944"/>
            <a:ext cx="1847088" cy="658368"/>
          </a:xfrm>
          <a:prstGeom prst="rect">
            <a:avLst/>
          </a:prstGeom>
          <a:solidFill>
            <a:srgbClr val="0A2A18"/>
          </a:solidFill>
          <a:ln w="15240">
            <a:solidFill>
              <a:srgbClr val="00E5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69664" y="2980944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A0"/>
                </a:solidFill>
              </a:rPr>
              <a:t>Review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E5A0"/>
                </a:solidFill>
              </a:rPr>
              <a:t>Service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63056" y="2980944"/>
            <a:ext cx="1847088" cy="658368"/>
          </a:xfrm>
          <a:prstGeom prst="rect">
            <a:avLst/>
          </a:prstGeom>
          <a:solidFill>
            <a:srgbClr val="0A2A18"/>
          </a:solidFill>
          <a:ln w="15240">
            <a:solidFill>
              <a:srgbClr val="00E5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63056" y="2980944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A0"/>
                </a:solidFill>
              </a:rPr>
              <a:t>Chat History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E5A0"/>
                </a:solidFill>
              </a:rPr>
              <a:t>Service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065008" y="2999232"/>
            <a:ext cx="960120" cy="621792"/>
          </a:xfrm>
          <a:prstGeom prst="rect">
            <a:avLst/>
          </a:prstGeom>
          <a:solidFill>
            <a:srgbClr val="00E5A0">
              <a:alpha val="18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65008" y="2999232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E5A0"/>
                </a:solidFill>
              </a:rPr>
              <a:t>SQLAlchemy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0E5A0"/>
                </a:solidFill>
              </a:rPr>
              <a:t>Async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407408" y="3639312"/>
            <a:ext cx="0" cy="256032"/>
          </a:xfrm>
          <a:prstGeom prst="line">
            <a:avLst/>
          </a:prstGeom>
          <a:noFill/>
          <a:ln w="19050">
            <a:solidFill>
              <a:srgbClr val="8BA3C7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201168" y="38770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A3C7"/>
                </a:solidFill>
              </a:rPr>
              <a:t>DATA &amp; AI LAYER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82880" y="4041648"/>
            <a:ext cx="1874520" cy="621792"/>
          </a:xfrm>
          <a:prstGeom prst="rect">
            <a:avLst/>
          </a:prstGeom>
          <a:solidFill>
            <a:srgbClr val="181E2E"/>
          </a:solidFill>
          <a:ln w="12700">
            <a:solidFill>
              <a:srgbClr val="364A6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2880" y="4041648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A3C7"/>
                </a:solidFill>
              </a:rPr>
              <a:t>SQLite / Postgres DB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194560" y="4041648"/>
            <a:ext cx="1874520" cy="621792"/>
          </a:xfrm>
          <a:prstGeom prst="rect">
            <a:avLst/>
          </a:prstGeom>
          <a:solidFill>
            <a:srgbClr val="181E2E"/>
          </a:solidFill>
          <a:ln w="12700">
            <a:solidFill>
              <a:srgbClr val="364A6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94560" y="4041648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A3C7"/>
                </a:solidFill>
              </a:rPr>
              <a:t>Gemini Vision AI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206240" y="4041648"/>
            <a:ext cx="1874520" cy="621792"/>
          </a:xfrm>
          <a:prstGeom prst="rect">
            <a:avLst/>
          </a:prstGeom>
          <a:solidFill>
            <a:srgbClr val="181E2E"/>
          </a:solidFill>
          <a:ln w="12700">
            <a:solidFill>
              <a:srgbClr val="364A6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06240" y="4041648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A3C7"/>
                </a:solidFill>
              </a:rPr>
              <a:t>Tesseract OCR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17920" y="4041648"/>
            <a:ext cx="1874520" cy="621792"/>
          </a:xfrm>
          <a:prstGeom prst="rect">
            <a:avLst/>
          </a:prstGeom>
          <a:solidFill>
            <a:srgbClr val="181E2E"/>
          </a:solidFill>
          <a:ln w="12700">
            <a:solidFill>
              <a:srgbClr val="364A6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0" y="4041648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A3C7"/>
                </a:solidFill>
              </a:rPr>
              <a:t>Authority APIs (Mock)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0" y="5020056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A3C7"/>
                </a:solidFill>
              </a:rPr>
              <a:t>SmartKYC — CONFIDENTIAL  |  Leadership Demo 2026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8046720" y="5001768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A3C7"/>
                </a:solidFill>
              </a:rPr>
              <a:t>4 / 10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2FF"/>
                </a:solidFill>
              </a:rPr>
              <a:t>AI DOCUMENT EXTRACTION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Vision + OCR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166420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C2FF"/>
            </a:solidFill>
            <a:prstDash val="solid"/>
          </a:ln>
          <a:effectLst>
            <a:outerShdw sx="100000" sy="100000" kx="0" ky="0" algn="bl" rotWithShape="0" blurRad="76200" dist="25400" dir="8100000">
              <a:srgbClr val="0A1628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1005840"/>
            <a:ext cx="457200" cy="457200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57276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Upload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956816"/>
            <a:ext cx="14813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5A7A"/>
                </a:solidFill>
              </a:rPr>
              <a:t>Officer drags passport, PAN, Aadhaar etc. via Chat Intake or Form Intake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47088" y="2377440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BDD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38528" y="960120"/>
            <a:ext cx="166420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C2FF"/>
            </a:solidFill>
            <a:prstDash val="solid"/>
          </a:ln>
          <a:effectLst>
            <a:outerShdw sx="100000" sy="100000" kx="0" ky="0" algn="bl" rotWithShape="0" blurRad="76200" dist="25400" dir="8100000">
              <a:srgbClr val="0A1628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42032" y="1005840"/>
            <a:ext cx="457200" cy="457200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29968" y="157276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Pre-process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29968" y="1956816"/>
            <a:ext cx="14813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5A7A"/>
                </a:solidFill>
              </a:rPr>
              <a:t>Resize to max 2800px, greyscale, sharpen — optimised for OCR accuracy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02736" y="2377440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BDD"/>
                </a:solidFill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94176" y="960120"/>
            <a:ext cx="166420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8100000">
              <a:srgbClr val="0A1628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0" y="100584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85616" y="157276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Gemini Vision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85616" y="1956816"/>
            <a:ext cx="14813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5A7A"/>
                </a:solidFill>
              </a:rPr>
              <a:t>LLM reads image — extracts fields, MRZ lines, per-field confidence scores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58384" y="2377440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BDD"/>
                </a:solidFill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49824" y="960120"/>
            <a:ext cx="166420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8100000">
              <a:srgbClr val="0A1628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53328" y="100584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53328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41264" y="157276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MRZ Fallback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41264" y="1956816"/>
            <a:ext cx="14813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5A7A"/>
                </a:solidFill>
              </a:rPr>
              <a:t>Tesseract OCR multi-PSM pass. Regex parses ICAO TD3 MRZ standard lines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114032" y="2377440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BDD"/>
                </a:solidFill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205472" y="960120"/>
            <a:ext cx="166420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76200" dist="25400" dir="8100000">
              <a:srgbClr val="0A1628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808976" y="1005840"/>
            <a:ext cx="457200" cy="45720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08976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96912" y="157276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Merge &amp; Store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96912" y="1956816"/>
            <a:ext cx="14813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5A7A"/>
                </a:solidFill>
              </a:rPr>
              <a:t>Fields merged, nationality corrected, dates validated — case profile updated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82880" y="4480560"/>
            <a:ext cx="877824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4805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FF"/>
                </a:solidFill>
              </a:rPr>
              <a:t>Output: Structured JSON  ·  Field confidences  ·  Full name  ·  MRZ lines  ·  Quality score  →  Auto-updates case subject profile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5020056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A3C7"/>
                </a:solidFill>
              </a:rPr>
              <a:t>SmartKYC — CONFIDENTIAL  |  Leadership Demo 2026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046720" y="5001768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A3C7"/>
                </a:solidFill>
              </a:rPr>
              <a:t>5 / 10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35"/>
                </a:solidFill>
              </a:rPr>
              <a:t>MULTI-AGENT INVESTIGATION ENGINE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parallel AI agents — one orchestrator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0" y="932688"/>
            <a:ext cx="2743200" cy="566928"/>
          </a:xfrm>
          <a:prstGeom prst="rect">
            <a:avLst/>
          </a:prstGeom>
          <a:solidFill>
            <a:srgbClr val="2A1800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93268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Investigation Orchestrator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" y="960120"/>
            <a:ext cx="2651760" cy="841248"/>
          </a:xfrm>
          <a:prstGeom prst="rect">
            <a:avLst/>
          </a:prstGeom>
          <a:solidFill>
            <a:srgbClr val="132040"/>
          </a:solidFill>
          <a:ln w="1270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" y="960120"/>
            <a:ext cx="36576" cy="84124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" y="1024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</a:rPr>
              <a:t>Identity Agent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" y="13441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F4FF"/>
                </a:solidFill>
              </a:rPr>
              <a:t>ID field vs authority record comparison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88920" y="1380744"/>
            <a:ext cx="548640" cy="0"/>
          </a:xfrm>
          <a:prstGeom prst="line">
            <a:avLst/>
          </a:prstGeom>
          <a:noFill/>
          <a:ln w="12700">
            <a:solidFill>
              <a:srgbClr val="364A6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37160" y="1947672"/>
            <a:ext cx="2651760" cy="841248"/>
          </a:xfrm>
          <a:prstGeom prst="rect">
            <a:avLst/>
          </a:prstGeom>
          <a:solidFill>
            <a:srgbClr val="132040"/>
          </a:solidFill>
          <a:ln w="1270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37160" y="1947672"/>
            <a:ext cx="36576" cy="84124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</a:rPr>
              <a:t>Sanctions Agent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" y="2331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F4FF"/>
                </a:solidFill>
              </a:rPr>
              <a:t>OFAC, UN, EU sanctions screening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88920" y="2368296"/>
            <a:ext cx="548640" cy="0"/>
          </a:xfrm>
          <a:prstGeom prst="line">
            <a:avLst/>
          </a:prstGeom>
          <a:noFill/>
          <a:ln w="12700">
            <a:solidFill>
              <a:srgbClr val="364A6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37160" y="2935224"/>
            <a:ext cx="2651760" cy="841248"/>
          </a:xfrm>
          <a:prstGeom prst="rect">
            <a:avLst/>
          </a:prstGeom>
          <a:solidFill>
            <a:srgbClr val="132040"/>
          </a:solidFill>
          <a:ln w="1270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37160" y="2935224"/>
            <a:ext cx="36576" cy="84124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" y="2999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</a:rPr>
              <a:t>PEP Agent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" y="33192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F4FF"/>
                </a:solidFill>
              </a:rPr>
              <a:t>Politically exposed persons check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88920" y="3355848"/>
            <a:ext cx="548640" cy="0"/>
          </a:xfrm>
          <a:prstGeom prst="line">
            <a:avLst/>
          </a:prstGeom>
          <a:noFill/>
          <a:ln w="12700">
            <a:solidFill>
              <a:srgbClr val="364A6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37160" y="3922776"/>
            <a:ext cx="2651760" cy="841248"/>
          </a:xfrm>
          <a:prstGeom prst="rect">
            <a:avLst/>
          </a:prstGeom>
          <a:solidFill>
            <a:srgbClr val="132040"/>
          </a:solidFill>
          <a:ln w="1270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37160" y="3922776"/>
            <a:ext cx="36576" cy="84124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" y="3986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</a:rPr>
              <a:t>Adverse Media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3464" y="43068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F4FF"/>
                </a:solidFill>
              </a:rPr>
              <a:t>News, court records, watchlists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88920" y="4343400"/>
            <a:ext cx="548640" cy="0"/>
          </a:xfrm>
          <a:prstGeom prst="line">
            <a:avLst/>
          </a:prstGeom>
          <a:noFill/>
          <a:ln w="12700">
            <a:solidFill>
              <a:srgbClr val="364A6A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355080" y="960120"/>
            <a:ext cx="2651760" cy="841248"/>
          </a:xfrm>
          <a:prstGeom prst="rect">
            <a:avLst/>
          </a:prstGeom>
          <a:solidFill>
            <a:srgbClr val="132040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970264" y="960120"/>
            <a:ext cx="36576" cy="84124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1024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</a:rPr>
              <a:t>Jurisdiction Agent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46520" y="13441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F4FF"/>
                </a:solidFill>
              </a:rPr>
              <a:t>High-risk country &amp; territory analysis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943600" y="1380744"/>
            <a:ext cx="411480" cy="0"/>
          </a:xfrm>
          <a:prstGeom prst="line">
            <a:avLst/>
          </a:prstGeom>
          <a:noFill/>
          <a:ln w="12700">
            <a:solidFill>
              <a:srgbClr val="364A6A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355080" y="1947672"/>
            <a:ext cx="2651760" cy="841248"/>
          </a:xfrm>
          <a:prstGeom prst="rect">
            <a:avLst/>
          </a:prstGeom>
          <a:solidFill>
            <a:srgbClr val="132040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970264" y="1947672"/>
            <a:ext cx="36576" cy="84124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</a:rPr>
              <a:t>Document Verify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46520" y="2331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F4FF"/>
                </a:solidFill>
              </a:rPr>
              <a:t>Expiry, format, security feature check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43600" y="2368296"/>
            <a:ext cx="411480" cy="0"/>
          </a:xfrm>
          <a:prstGeom prst="line">
            <a:avLst/>
          </a:prstGeom>
          <a:noFill/>
          <a:ln w="12700">
            <a:solidFill>
              <a:srgbClr val="364A6A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355080" y="2935224"/>
            <a:ext cx="2651760" cy="841248"/>
          </a:xfrm>
          <a:prstGeom prst="rect">
            <a:avLst/>
          </a:prstGeom>
          <a:solidFill>
            <a:srgbClr val="132040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970264" y="2935224"/>
            <a:ext cx="36576" cy="84124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2999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</a:rPr>
              <a:t>Corporate Agent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46520" y="33192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F4FF"/>
                </a:solidFill>
              </a:rPr>
              <a:t>Beneficial ownership, nominee directors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943600" y="3355848"/>
            <a:ext cx="411480" cy="0"/>
          </a:xfrm>
          <a:prstGeom prst="line">
            <a:avLst/>
          </a:prstGeom>
          <a:noFill/>
          <a:ln w="12700">
            <a:solidFill>
              <a:srgbClr val="364A6A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6355080" y="3922776"/>
            <a:ext cx="2651760" cy="841248"/>
          </a:xfrm>
          <a:prstGeom prst="rect">
            <a:avLst/>
          </a:prstGeom>
          <a:solidFill>
            <a:srgbClr val="132040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970264" y="3922776"/>
            <a:ext cx="36576" cy="84124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6520" y="3986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</a:rPr>
              <a:t>Risk Aggregation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46520" y="43068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F4FF"/>
                </a:solidFill>
              </a:rPr>
              <a:t>Final weighted score 0–100 + risk level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943600" y="4343400"/>
            <a:ext cx="411480" cy="0"/>
          </a:xfrm>
          <a:prstGeom prst="line">
            <a:avLst/>
          </a:prstGeom>
          <a:noFill/>
          <a:ln w="12700">
            <a:solidFill>
              <a:srgbClr val="364A6A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3108960" y="4315968"/>
            <a:ext cx="2926080" cy="530352"/>
          </a:xfrm>
          <a:prstGeom prst="rect">
            <a:avLst/>
          </a:prstGeom>
          <a:solidFill>
            <a:srgbClr val="0A2818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0" y="431596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A0"/>
                </a:solidFill>
              </a:rPr>
              <a:t>Risk Score 0–100  ·  Flags  ·  Evidence  →  Review Queue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0" y="1499616"/>
            <a:ext cx="0" cy="2816352"/>
          </a:xfrm>
          <a:prstGeom prst="line">
            <a:avLst/>
          </a:prstGeom>
          <a:noFill/>
          <a:ln w="12700">
            <a:solidFill>
              <a:srgbClr val="364A6A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0" y="5020056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A3C7"/>
                </a:solidFill>
              </a:rPr>
              <a:t>SmartKYC — CONFIDENTIAL  |  Leadership Demo 2026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046720" y="5001768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A3C7"/>
                </a:solidFill>
              </a:rPr>
              <a:t>6 / 10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2FF"/>
                </a:solidFill>
              </a:rPr>
              <a:t>CONVERSATIONAL INTAKE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chat interface for compliance officers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389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76200" dist="25400" dir="8100000">
              <a:srgbClr val="0A1628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332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9264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Drag-drop document intake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9264" y="127101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A7A"/>
                </a:solidFill>
              </a:rPr>
              <a:t>Drop passport or PAN — extraction fires automatically — case created and profile populated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929384"/>
            <a:ext cx="4389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76200" dist="25400" dir="8100000">
              <a:srgbClr val="0A1628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00253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9264" y="1975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Natural language case queries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9264" y="22402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A7A"/>
                </a:solidFill>
              </a:rPr>
              <a:t>"How many under review?" — live API query, instant counts using review queue endpoint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898648"/>
            <a:ext cx="4389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76200" dist="25400" dir="8100000">
              <a:srgbClr val="0A1628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971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9264" y="2944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Risk-tagged case listings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9264" y="320954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A7A"/>
                </a:solidFill>
              </a:rPr>
              <a:t>High / medium / low risk emoji-tagged with score, status, and case reference number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867912"/>
            <a:ext cx="4389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76200" dist="25400" dir="8100000">
              <a:srgbClr val="0A1628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94106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9264" y="3913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Full chat session history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9264" y="41788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A7A"/>
                </a:solidFill>
              </a:rPr>
              <a:t>Sessions auto-saved via API; history panel; past sessions are browsable and replayable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932688"/>
            <a:ext cx="3950208" cy="3858768"/>
          </a:xfrm>
          <a:prstGeom prst="rect">
            <a:avLst/>
          </a:prstGeom>
          <a:solidFill>
            <a:srgbClr val="0A1628"/>
          </a:solidFill>
          <a:ln w="19050">
            <a:solidFill>
              <a:srgbClr val="1E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932688"/>
            <a:ext cx="3950208" cy="402336"/>
          </a:xfrm>
          <a:prstGeom prst="rect">
            <a:avLst/>
          </a:prstGeom>
          <a:solidFill>
            <a:srgbClr val="132040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987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2FF"/>
                </a:solidFill>
              </a:rPr>
              <a:t>● KYC Chat Intake   GEMINI-2.5-FLASH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47488" y="1426464"/>
            <a:ext cx="3017520" cy="475488"/>
          </a:xfrm>
          <a:prstGeom prst="rect">
            <a:avLst/>
          </a:prstGeom>
          <a:solidFill>
            <a:srgbClr val="132040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472184"/>
            <a:ext cx="2889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EFF4FF"/>
                </a:solidFill>
              </a:rPr>
              <a:t>Welcome to SmartKYC. Drop a document or ask about cases.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32320" y="1920240"/>
            <a:ext cx="1600200" cy="274320"/>
          </a:xfrm>
          <a:prstGeom prst="rect">
            <a:avLst/>
          </a:prstGeom>
          <a:solidFill>
            <a:srgbClr val="1A3A5A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05472" y="196596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0C2FF"/>
                </a:solidFill>
              </a:rPr>
              <a:t>How many cases are under review?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047488" y="2267712"/>
            <a:ext cx="3017520" cy="475488"/>
          </a:xfrm>
          <a:prstGeom prst="rect">
            <a:avLst/>
          </a:prstGeom>
          <a:solidFill>
            <a:srgbClr val="132040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2313432"/>
            <a:ext cx="2889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EFF4FF"/>
                </a:solidFill>
              </a:rPr>
              <a:t>There are 37 cases under review out of 56 total.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EFF4FF"/>
                </a:solidFill>
              </a:rPr>
              <a:t>• Demo27 — KYC-2026-2705 · high risk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EFF4FF"/>
                </a:solidFill>
              </a:rPr>
              <a:t>• Mehta Corp — KYC-2026-A1B2 · medium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132320" y="3154680"/>
            <a:ext cx="1600200" cy="274320"/>
          </a:xfrm>
          <a:prstGeom prst="rect">
            <a:avLst/>
          </a:prstGeom>
          <a:solidFill>
            <a:srgbClr val="1A3A5A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05472" y="320040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0C2FF"/>
                </a:solidFill>
              </a:rPr>
              <a:t>List high priority cases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047488" y="3493008"/>
            <a:ext cx="3017520" cy="475488"/>
          </a:xfrm>
          <a:prstGeom prst="rect">
            <a:avLst/>
          </a:prstGeom>
          <a:solidFill>
            <a:srgbClr val="132040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3538728"/>
            <a:ext cx="2889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EFF4FF"/>
                </a:solidFill>
              </a:rPr>
              <a:t>🔴 Acme Ltd — score 88 · review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EFF4FF"/>
                </a:solidFill>
              </a:rPr>
              <a:t>🟠 J. Carter — score 75 · review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EFF4FF"/>
                </a:solidFill>
              </a:rPr>
              <a:t>🟠 P. Singh — score 74 · review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937760" y="4453128"/>
            <a:ext cx="3950208" cy="338328"/>
          </a:xfrm>
          <a:prstGeom prst="rect">
            <a:avLst/>
          </a:prstGeom>
          <a:solidFill>
            <a:srgbClr val="132040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4480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A7A"/>
                </a:solidFill>
              </a:rPr>
              <a:t>Ask about cases or drop a document…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5020056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A3C7"/>
                </a:solidFill>
              </a:rPr>
              <a:t>SmartKYC — CONFIDENTIAL  |  Leadership Demo 2026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046720" y="5001768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A3C7"/>
                </a:solidFill>
              </a:rPr>
              <a:t>7 / 10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E5A0"/>
                </a:solidFill>
              </a:rPr>
              <a:t>HUMAN REVIEW &amp; COMPLIANCE DECISIONS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evidence surface — officer-driven final call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2743200" cy="3950208"/>
          </a:xfrm>
          <a:prstGeom prst="rect">
            <a:avLst/>
          </a:prstGeom>
          <a:solidFill>
            <a:srgbClr val="132040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875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E5A0"/>
                </a:solidFill>
              </a:rPr>
              <a:t>REVIEW QUEUE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1243584"/>
            <a:ext cx="2743200" cy="13716"/>
          </a:xfrm>
          <a:prstGeom prst="rect">
            <a:avLst/>
          </a:prstGeom>
          <a:solidFill>
            <a:srgbClr val="1E3560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316736"/>
            <a:ext cx="2706624" cy="594360"/>
          </a:xfrm>
          <a:prstGeom prst="rect">
            <a:avLst/>
          </a:prstGeom>
          <a:solidFill>
            <a:srgbClr val="1A3A2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716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J. Carter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5910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C7"/>
                </a:solidFill>
              </a:rPr>
              <a:t>KYC-2026-2705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395728" y="1371600"/>
            <a:ext cx="457200" cy="301752"/>
          </a:xfrm>
          <a:prstGeom prst="rect">
            <a:avLst/>
          </a:prstGeom>
          <a:solidFill>
            <a:srgbClr val="E24B4A">
              <a:alpha val="30000"/>
            </a:srgbClr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137160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4B4A"/>
                </a:solidFill>
              </a:rPr>
              <a:t>88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" y="1975104"/>
            <a:ext cx="2706624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0299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Mehta Corp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22494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C7"/>
                </a:solidFill>
              </a:rPr>
              <a:t>KYC-2026-A1B2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395728" y="2029968"/>
            <a:ext cx="457200" cy="301752"/>
          </a:xfrm>
          <a:prstGeom prst="rect">
            <a:avLst/>
          </a:prstGeom>
          <a:solidFill>
            <a:srgbClr val="E24B4A">
              <a:alpha val="30000"/>
            </a:srgbClr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95728" y="202996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4B4A"/>
                </a:solidFill>
              </a:rPr>
              <a:t>74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1168" y="2633472"/>
            <a:ext cx="2706624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6883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P. Singh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29077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C7"/>
                </a:solidFill>
              </a:rPr>
              <a:t>KYC-2026-C21D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95728" y="2688336"/>
            <a:ext cx="457200" cy="301752"/>
          </a:xfrm>
          <a:prstGeom prst="rect">
            <a:avLst/>
          </a:prstGeom>
          <a:solidFill>
            <a:srgbClr val="BA7517">
              <a:alpha val="30000"/>
            </a:srgbClr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95728" y="2688336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61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1168" y="3291840"/>
            <a:ext cx="2706624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3467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Acme Ltd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35661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C7"/>
                </a:solidFill>
              </a:rPr>
              <a:t>KYC-2026-8F3A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395728" y="3346704"/>
            <a:ext cx="457200" cy="301752"/>
          </a:xfrm>
          <a:prstGeom prst="rect">
            <a:avLst/>
          </a:prstGeom>
          <a:solidFill>
            <a:srgbClr val="BA7517">
              <a:alpha val="30000"/>
            </a:srgbClr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95728" y="334670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45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01168" y="3950208"/>
            <a:ext cx="2706624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0050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R. Gomez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" y="42245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C7"/>
                </a:solidFill>
              </a:rPr>
              <a:t>KYC-2026-D00E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395728" y="4005072"/>
            <a:ext cx="457200" cy="301752"/>
          </a:xfrm>
          <a:prstGeom prst="rect">
            <a:avLst/>
          </a:prstGeom>
          <a:solidFill>
            <a:srgbClr val="00E5A0">
              <a:alpha val="3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95728" y="4005072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</a:rPr>
              <a:t>22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108960" y="914400"/>
            <a:ext cx="5806440" cy="3950208"/>
          </a:xfrm>
          <a:prstGeom prst="rect">
            <a:avLst/>
          </a:prstGeom>
          <a:solidFill>
            <a:srgbClr val="0E1D30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291840" y="10058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J. Carter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291840" y="13350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C7"/>
                </a:solidFill>
              </a:rPr>
              <a:t>KYC-2026-2705  ·  Individual  ·  USA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223760" y="950976"/>
            <a:ext cx="1463040" cy="1463040"/>
          </a:xfrm>
          <a:prstGeom prst="ellipse">
            <a:avLst/>
          </a:prstGeom>
          <a:solidFill>
            <a:srgbClr val="2A0A0A"/>
          </a:solidFill>
          <a:ln w="50800">
            <a:solidFill>
              <a:srgbClr val="E24B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0" y="124358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4B4A"/>
                </a:solidFill>
              </a:rPr>
              <a:t>88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7178040" y="17190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E24B4A"/>
                </a:solidFill>
              </a:rPr>
              <a:t>HIGH RISK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291840" y="1609344"/>
            <a:ext cx="1783080" cy="237744"/>
          </a:xfrm>
          <a:prstGeom prst="rect">
            <a:avLst/>
          </a:prstGeom>
          <a:solidFill>
            <a:srgbClr val="E24B4A">
              <a:alpha val="20000"/>
            </a:srgbClr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16093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24B4A"/>
                </a:solidFill>
              </a:rPr>
              <a:t>sanctions partial match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212080" y="1609344"/>
            <a:ext cx="1783080" cy="237744"/>
          </a:xfrm>
          <a:prstGeom prst="rect">
            <a:avLst/>
          </a:prstGeom>
          <a:solidFill>
            <a:srgbClr val="BA7517">
              <a:alpha val="20000"/>
            </a:srgbClr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0" y="16093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A7517"/>
                </a:solidFill>
              </a:rPr>
              <a:t>high risk jurisdiction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132320" y="1609344"/>
            <a:ext cx="1783080" cy="237744"/>
          </a:xfrm>
          <a:prstGeom prst="rect">
            <a:avLst/>
          </a:prstGeom>
          <a:solidFill>
            <a:srgbClr val="378ADD">
              <a:alpha val="20000"/>
            </a:srgbClr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0" y="16093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8ADD"/>
                </a:solidFill>
              </a:rPr>
              <a:t>adverse media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291840" y="19659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A3C7"/>
                </a:solidFill>
              </a:rPr>
              <a:t>COMPLIANCE DECISION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91840" y="2212848"/>
            <a:ext cx="1097280" cy="475488"/>
          </a:xfrm>
          <a:prstGeom prst="rect">
            <a:avLst/>
          </a:prstGeom>
          <a:solidFill>
            <a:srgbClr val="0A2818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0" y="221284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✓ Approve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434840" y="2212848"/>
            <a:ext cx="1097280" cy="475488"/>
          </a:xfrm>
          <a:prstGeom prst="rect">
            <a:avLst/>
          </a:prstGeom>
          <a:solidFill>
            <a:srgbClr val="2A0A0A"/>
          </a:solidFill>
          <a:ln w="19050">
            <a:solidFill>
              <a:srgbClr val="E24B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34840" y="221284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4B4A"/>
                </a:solidFill>
              </a:rPr>
              <a:t>✕ Reject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577840" y="2212848"/>
            <a:ext cx="1097280" cy="475488"/>
          </a:xfrm>
          <a:prstGeom prst="rect">
            <a:avLst/>
          </a:prstGeom>
          <a:solidFill>
            <a:srgbClr val="0A1828"/>
          </a:solidFill>
          <a:ln w="19050">
            <a:solidFill>
              <a:srgbClr val="378A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77840" y="221284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8ADD"/>
                </a:solidFill>
              </a:rPr>
              <a:t>📄 Docs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720840" y="2212848"/>
            <a:ext cx="1097280" cy="475488"/>
          </a:xfrm>
          <a:prstGeom prst="rect">
            <a:avLst/>
          </a:prstGeom>
          <a:solidFill>
            <a:srgbClr val="2A1800"/>
          </a:solidFill>
          <a:ln w="19050">
            <a:solidFill>
              <a:srgbClr val="BA751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20840" y="221284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A7517"/>
                </a:solidFill>
              </a:rPr>
              <a:t>⏸ Hold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863840" y="2212848"/>
            <a:ext cx="1097280" cy="475488"/>
          </a:xfrm>
          <a:prstGeom prst="rect">
            <a:avLst/>
          </a:prstGeom>
          <a:solidFill>
            <a:srgbClr val="18103A"/>
          </a:solidFill>
          <a:ln w="19050">
            <a:solidFill>
              <a:srgbClr val="7F77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63840" y="221284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F77DD"/>
                </a:solidFill>
              </a:rPr>
              <a:t>↑ Escalate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291840" y="2871216"/>
            <a:ext cx="5577840" cy="475488"/>
          </a:xfrm>
          <a:prstGeom prst="rect">
            <a:avLst/>
          </a:prstGeom>
          <a:solidFill>
            <a:srgbClr val="0D1F3C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01568" y="294436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C7"/>
                </a:solidFill>
              </a:rPr>
              <a:t>Compliance notes…  (required for rejection or escalation)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291840" y="3474720"/>
            <a:ext cx="5577840" cy="43891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91840" y="347472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Submit Decision — Reject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3291840" y="40416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C7"/>
                </a:solidFill>
              </a:rPr>
              <a:t>✔ Full audit trail  ·  Timestamp + reviewer name  ·  Immutable event log  ·  Risk score override supported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0" y="5020056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A3C7"/>
                </a:solidFill>
              </a:rPr>
              <a:t>SmartKYC — CONFIDENTIAL  |  Leadership Demo 2026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8046720" y="5001768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A3C7"/>
                </a:solidFill>
              </a:rPr>
              <a:t>8 / 10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B35"/>
                </a:solidFill>
              </a:rPr>
              <a:t>END-TO-END CODE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document drop to compliance decision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1645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2FF"/>
            </a:solidFill>
            <a:prstDash val="solid"/>
          </a:ln>
          <a:effectLst>
            <a:outerShdw sx="100000" sy="100000" kx="0" ky="0" algn="bl" rotWithShape="0" blurRad="76200" dist="25400" dir="8100000">
              <a:srgbClr val="0A1628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005840"/>
            <a:ext cx="457200" cy="457200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A1628"/>
                </a:solidFill>
              </a:rPr>
              <a:t>Chat /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A1628"/>
                </a:solidFill>
              </a:rPr>
              <a:t>Form Intake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1426464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DD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47672" y="960120"/>
            <a:ext cx="1645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2FF"/>
            </a:solidFill>
            <a:prstDash val="solid"/>
          </a:ln>
          <a:effectLst>
            <a:outerShdw sx="100000" sy="100000" kx="0" ky="0" algn="bl" rotWithShape="0" blurRad="76200" dist="25400" dir="8100000">
              <a:srgbClr val="0A1628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42032" y="1005840"/>
            <a:ext cx="457200" cy="457200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39112" y="155448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A1628"/>
                </a:solidFill>
              </a:rPr>
              <a:t>Case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A1628"/>
                </a:solidFill>
              </a:rPr>
              <a:t>Created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93592" y="1426464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DD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12464" y="960120"/>
            <a:ext cx="1645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2FF"/>
            </a:solidFill>
            <a:prstDash val="solid"/>
          </a:ln>
          <a:effectLst>
            <a:outerShdw sx="100000" sy="100000" kx="0" ky="0" algn="bl" rotWithShape="0" blurRad="76200" dist="25400" dir="8100000">
              <a:srgbClr val="0A1628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06824" y="1005840"/>
            <a:ext cx="457200" cy="457200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06824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03904" y="155448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A1628"/>
                </a:solidFill>
              </a:rPr>
              <a:t>Doc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A1628"/>
                </a:solidFill>
              </a:rPr>
              <a:t>Upload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58384" y="1426464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DD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77256" y="960120"/>
            <a:ext cx="1645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8100000">
              <a:srgbClr val="0A1628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71616" y="100584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71616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68696" y="155448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A1628"/>
                </a:solidFill>
              </a:rPr>
              <a:t>AI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A1628"/>
                </a:solidFill>
              </a:rPr>
              <a:t>Extraction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23176" y="1426464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DD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242048" y="960120"/>
            <a:ext cx="1645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8100000">
              <a:srgbClr val="0A1628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36408" y="100584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36408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33488" y="155448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A1628"/>
                </a:solidFill>
              </a:rPr>
              <a:t>Case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A1628"/>
                </a:solidFill>
              </a:rPr>
              <a:t>Updated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778240" y="1554480"/>
            <a:ext cx="0" cy="1051560"/>
          </a:xfrm>
          <a:prstGeom prst="line">
            <a:avLst/>
          </a:prstGeom>
          <a:noFill/>
          <a:ln w="25400">
            <a:solidFill>
              <a:srgbClr val="AABBDD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91440" y="2606040"/>
            <a:ext cx="8686800" cy="0"/>
          </a:xfrm>
          <a:prstGeom prst="line">
            <a:avLst/>
          </a:prstGeom>
          <a:noFill/>
          <a:ln w="19050">
            <a:solidFill>
              <a:srgbClr val="AABBDD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182880" y="2651760"/>
            <a:ext cx="1645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8100000">
              <a:srgbClr val="0A1628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77240" y="269748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324612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A1628"/>
                </a:solidFill>
              </a:rPr>
              <a:t>Investigation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A1628"/>
                </a:solidFill>
              </a:rPr>
              <a:t>Started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828800" y="315468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DD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947672" y="2651760"/>
            <a:ext cx="1645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8100000">
              <a:srgbClr val="0A1628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542032" y="269748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42032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039112" y="324612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A1628"/>
                </a:solidFill>
              </a:rPr>
              <a:t>8 Agents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A1628"/>
                </a:solidFill>
              </a:rPr>
              <a:t>Run in Parallel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593592" y="315468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DD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712464" y="2651760"/>
            <a:ext cx="1645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76200" dist="25400" dir="8100000">
              <a:srgbClr val="0A1628">
                <a:alpha val="9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306824" y="2697480"/>
            <a:ext cx="457200" cy="457200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06824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803904" y="324612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A1628"/>
                </a:solidFill>
              </a:rPr>
              <a:t>Risk Score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A1628"/>
                </a:solidFill>
              </a:rPr>
              <a:t>Computed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58384" y="315468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DD"/>
                </a:solidFill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477256" y="2651760"/>
            <a:ext cx="1645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76200" dist="25400" dir="8100000">
              <a:srgbClr val="0A1628">
                <a:alpha val="9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71616" y="2697480"/>
            <a:ext cx="457200" cy="45720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71616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9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568696" y="324612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A1628"/>
                </a:solidFill>
              </a:rPr>
              <a:t>Review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A1628"/>
                </a:solidFill>
              </a:rPr>
              <a:t>Queue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123176" y="315468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DD"/>
                </a:solidFill>
              </a:rPr>
              <a:t>→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242048" y="2651760"/>
            <a:ext cx="1645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76200" dist="25400" dir="8100000">
              <a:srgbClr val="0A1628">
                <a:alpha val="9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836408" y="2697480"/>
            <a:ext cx="457200" cy="45720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36408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10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333488" y="324612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A1628"/>
                </a:solidFill>
              </a:rPr>
              <a:t>Decision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A1628"/>
                </a:solidFill>
              </a:rPr>
              <a:t>Recorded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82880" y="4169664"/>
            <a:ext cx="877824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224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BA3C7"/>
                </a:solidFill>
              </a:rPr>
              <a:t>TECH STACK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20040" y="4434840"/>
            <a:ext cx="1005840" cy="256032"/>
          </a:xfrm>
          <a:prstGeom prst="rect">
            <a:avLst/>
          </a:prstGeom>
          <a:solidFill>
            <a:srgbClr val="00C2FF">
              <a:alpha val="18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4434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2FF"/>
                </a:solidFill>
              </a:rPr>
              <a:t>React + Vite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380744" y="4434840"/>
            <a:ext cx="1005840" cy="256032"/>
          </a:xfrm>
          <a:prstGeom prst="rect">
            <a:avLst/>
          </a:prstGeom>
          <a:solidFill>
            <a:srgbClr val="FF6B35">
              <a:alpha val="18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380744" y="4434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6B35"/>
                </a:solidFill>
              </a:rPr>
              <a:t>FastAPI Python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441448" y="4434840"/>
            <a:ext cx="1005840" cy="256032"/>
          </a:xfrm>
          <a:prstGeom prst="rect">
            <a:avLst/>
          </a:prstGeom>
          <a:solidFill>
            <a:srgbClr val="00E5A0">
              <a:alpha val="18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441448" y="4434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A0"/>
                </a:solidFill>
              </a:rPr>
              <a:t>SQLAlchemy Async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502152" y="4434840"/>
            <a:ext cx="1005840" cy="256032"/>
          </a:xfrm>
          <a:prstGeom prst="rect">
            <a:avLst/>
          </a:prstGeom>
          <a:solidFill>
            <a:srgbClr val="8BA3C7">
              <a:alpha val="18000"/>
            </a:srgbClr>
          </a:solidFill>
          <a:ln w="12700">
            <a:solidFill>
              <a:srgbClr val="8BA3C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02152" y="4434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A3C7"/>
                </a:solidFill>
              </a:rPr>
              <a:t>SQLite / Postgres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562856" y="4434840"/>
            <a:ext cx="1005840" cy="256032"/>
          </a:xfrm>
          <a:prstGeom prst="rect">
            <a:avLst/>
          </a:prstGeom>
          <a:solidFill>
            <a:srgbClr val="FF6B35">
              <a:alpha val="18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62856" y="4434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6B35"/>
                </a:solidFill>
              </a:rPr>
              <a:t>Gemini Vision AI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5623560" y="4434840"/>
            <a:ext cx="1005840" cy="256032"/>
          </a:xfrm>
          <a:prstGeom prst="rect">
            <a:avLst/>
          </a:prstGeom>
          <a:solidFill>
            <a:srgbClr val="00C2FF">
              <a:alpha val="18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23560" y="4434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2FF"/>
                </a:solidFill>
              </a:rPr>
              <a:t>Tesseract OCR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684264" y="4434840"/>
            <a:ext cx="1005840" cy="256032"/>
          </a:xfrm>
          <a:prstGeom prst="rect">
            <a:avLst/>
          </a:prstGeom>
          <a:solidFill>
            <a:srgbClr val="00E5A0">
              <a:alpha val="18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84264" y="4434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A0"/>
                </a:solidFill>
              </a:rPr>
              <a:t>MRZ ICAO Parser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7744968" y="4434840"/>
            <a:ext cx="1005840" cy="256032"/>
          </a:xfrm>
          <a:prstGeom prst="rect">
            <a:avLst/>
          </a:prstGeom>
          <a:solidFill>
            <a:srgbClr val="8BA3C7">
              <a:alpha val="18000"/>
            </a:srgbClr>
          </a:solidFill>
          <a:ln w="12700">
            <a:solidFill>
              <a:srgbClr val="8BA3C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744968" y="4434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A3C7"/>
                </a:solidFill>
              </a:rPr>
              <a:t>Axios REST API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0" y="5020056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A3C7"/>
                </a:solidFill>
              </a:rPr>
              <a:t>SmartKYC — CONFIDENTIAL  |  Leadership Demo 2026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8046720" y="5001768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A3C7"/>
                </a:solidFill>
              </a:rPr>
              <a:t>9 / 10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56432" y="0"/>
            <a:ext cx="36576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365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146304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727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572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F4FF"/>
                </a:solidFill>
              </a:rPr>
              <a:t>AI doc extraction (Gemini Vision + OCR)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19659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F4FF"/>
                </a:solidFill>
              </a:rPr>
              <a:t>Multi-agent investigation engine (8 agents)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23591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359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F4FF"/>
                </a:solidFill>
              </a:rPr>
              <a:t>Real-time risk scoring 0–100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275234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27523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F4FF"/>
                </a:solidFill>
              </a:rPr>
              <a:t>Conversational chat intake + history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314553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31455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F4FF"/>
                </a:solidFill>
              </a:rPr>
              <a:t>Human review queue + evidence surface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353872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35387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F4FF"/>
                </a:solidFill>
              </a:rPr>
              <a:t>Case management &amp; full audit trail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39319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F4FF"/>
                </a:solidFill>
              </a:rPr>
              <a:t>Inline case subject edit (PATCH)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43251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" y="4325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F4FF"/>
                </a:solidFill>
              </a:rPr>
              <a:t>Session-persistent chat history API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74904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FF"/>
                </a:solidFill>
              </a:rPr>
              <a:t>ROADMAP &amp; NEXT STEPS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49040" y="45720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Path to production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3749040" y="914400"/>
            <a:ext cx="5166360" cy="777240"/>
          </a:xfrm>
          <a:prstGeom prst="rect">
            <a:avLst/>
          </a:prstGeom>
          <a:solidFill>
            <a:srgbClr val="132040"/>
          </a:solidFill>
          <a:ln w="1270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749040" y="914400"/>
            <a:ext cx="41148" cy="8229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969264"/>
            <a:ext cx="731520" cy="219456"/>
          </a:xfrm>
          <a:prstGeom prst="rect">
            <a:avLst/>
          </a:prstGeom>
          <a:solidFill>
            <a:srgbClr val="00C2FF">
              <a:alpha val="2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0" y="9692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2FF"/>
                </a:solidFill>
              </a:rPr>
              <a:t>Q3 2026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58768" y="987552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</a:rPr>
              <a:t>Phase 1 — Production Database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58768" y="124358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FF4FF"/>
                </a:solidFill>
              </a:rPr>
              <a:t>Migrate from SQLite to PostgreSQL; add connection pooling and automated backups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49040" y="1810512"/>
            <a:ext cx="5166360" cy="777240"/>
          </a:xfrm>
          <a:prstGeom prst="rect">
            <a:avLst/>
          </a:prstGeom>
          <a:solidFill>
            <a:srgbClr val="13204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49040" y="1810512"/>
            <a:ext cx="41148" cy="8229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0" y="1865376"/>
            <a:ext cx="731520" cy="219456"/>
          </a:xfrm>
          <a:prstGeom prst="rect">
            <a:avLst/>
          </a:prstGeom>
          <a:solidFill>
            <a:srgbClr val="FF6B35">
              <a:alpha val="2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38160" y="186537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35"/>
                </a:solidFill>
              </a:rPr>
              <a:t>Q3 2026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858768" y="1883664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Phase 2 — Live Authority APIs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858768" y="213969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FF4FF"/>
                </a:solidFill>
              </a:rPr>
              <a:t>Integrate real OFAC, World-Check, Dow Jones Factiva and ComplyAdvantage feeds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49040" y="2706624"/>
            <a:ext cx="5166360" cy="777240"/>
          </a:xfrm>
          <a:prstGeom prst="rect">
            <a:avLst/>
          </a:prstGeom>
          <a:solidFill>
            <a:srgbClr val="132040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749040" y="2706624"/>
            <a:ext cx="41148" cy="8229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38160" y="2761488"/>
            <a:ext cx="731520" cy="219456"/>
          </a:xfrm>
          <a:prstGeom prst="rect">
            <a:avLst/>
          </a:prstGeom>
          <a:solidFill>
            <a:srgbClr val="00E5A0">
              <a:alpha val="2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38160" y="276148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A0"/>
                </a:solidFill>
              </a:rPr>
              <a:t>Q4 2026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858768" y="277977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</a:rPr>
              <a:t>Phase 3 — Role-Based Access Control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858768" y="303580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FF4FF"/>
                </a:solidFill>
              </a:rPr>
              <a:t>MLRO, analyst, auditor roles with SSO / OAuth integration and audit logs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749040" y="3602736"/>
            <a:ext cx="5166360" cy="777240"/>
          </a:xfrm>
          <a:prstGeom prst="rect">
            <a:avLst/>
          </a:prstGeom>
          <a:solidFill>
            <a:srgbClr val="132040"/>
          </a:solidFill>
          <a:ln w="1270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749040" y="3602736"/>
            <a:ext cx="41148" cy="82296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38160" y="3657600"/>
            <a:ext cx="731520" cy="219456"/>
          </a:xfrm>
          <a:prstGeom prst="rect">
            <a:avLst/>
          </a:prstGeom>
          <a:solidFill>
            <a:srgbClr val="7F77DD">
              <a:alpha val="20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38160" y="36576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F77DD"/>
                </a:solidFill>
              </a:rPr>
              <a:t>Q4 2026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858768" y="367588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77DD"/>
                </a:solidFill>
              </a:rPr>
              <a:t>Phase 4 — Reporting &amp; Analytics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858768" y="393192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FF4FF"/>
                </a:solidFill>
              </a:rPr>
              <a:t>SAR generation, throughput dashboards, SLA tracking, and PDF export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749040" y="4535424"/>
            <a:ext cx="5166360" cy="32918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49040" y="4535424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for pilot deployment — let's discuss production rollout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0" y="5020056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A3C7"/>
                </a:solidFill>
              </a:rPr>
              <a:t>SmartKYC — CONFIDENTIAL  |  Leadership Demo 2026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8046720" y="5001768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A3C7"/>
                </a:solidFill>
              </a:rPr>
              <a:t>10 / 10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SmartKYC — AI-Powered KYC/AML Compliance Platform</dc:title>
  <dc:subject>PptxGenJS Presentation</dc:subject>
  <dc:creator>SmartKYC Team</dc:creator>
  <cp:lastModifiedBy>SmartKYC Team</cp:lastModifiedBy>
  <cp:revision>1</cp:revision>
  <dcterms:created xsi:type="dcterms:W3CDTF">2026-04-15T05:41:15Z</dcterms:created>
  <dcterms:modified xsi:type="dcterms:W3CDTF">2026-04-15T05:41:15Z</dcterms:modified>
</cp:coreProperties>
</file>