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4" r:id="rId4"/>
    <p:sldId id="262" r:id="rId5"/>
    <p:sldId id="259" r:id="rId6"/>
    <p:sldId id="263" r:id="rId7"/>
    <p:sldId id="264" r:id="rId8"/>
    <p:sldId id="268" r:id="rId9"/>
    <p:sldId id="271" r:id="rId10"/>
    <p:sldId id="273" r:id="rId11"/>
    <p:sldId id="272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659"/>
    <p:restoredTop sz="94610"/>
  </p:normalViewPr>
  <p:slideViewPr>
    <p:cSldViewPr snapToGrid="0" snapToObjects="1">
      <p:cViewPr varScale="1">
        <p:scale>
          <a:sx n="215" d="100"/>
          <a:sy n="215" d="100"/>
        </p:scale>
        <p:origin x="3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9117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17DCD-6659-FEA6-1DD6-B2109FA97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D86892-855D-625B-685F-D8C2C85A9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1582D8-5155-4FAF-0290-FFE8585C7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06EA5-A252-CEF3-4471-443E99E9F5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6123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5FED3-55DF-FD71-36EE-112D592E8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EC4159-A4A1-CBAC-8728-F0408BDB46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3B6CDB-7E1B-63DF-04C4-CF311E1969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D777C-C415-0958-EB93-224FBEFE7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718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457200" cy="4046220"/>
          </a:xfrm>
          <a:prstGeom prst="rect">
            <a:avLst/>
          </a:prstGeom>
          <a:solidFill>
            <a:srgbClr val="3B6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83680" y="-365760"/>
            <a:ext cx="3474720" cy="3474720"/>
          </a:xfrm>
          <a:prstGeom prst="ellipse">
            <a:avLst/>
          </a:prstGeom>
          <a:solidFill>
            <a:srgbClr val="3B6ECC">
              <a:alpha val="20000"/>
            </a:srgbClr>
          </a:solidFill>
          <a:ln w="12700">
            <a:solidFill>
              <a:srgbClr val="3B6EC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E9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SmartKYC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KYC/AML</a:t>
            </a:r>
            <a:endParaRPr lang="en-US" sz="3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Platform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document extraction · LLM-driven investigation agents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sanctions screening · Human-in-the-loop review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703320"/>
            <a:ext cx="256032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E3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D0AF4A00-832E-F66A-B0F6-616A7406C8C1}"/>
              </a:ext>
            </a:extLst>
          </p:cNvPr>
          <p:cNvSpPr/>
          <p:nvPr/>
        </p:nvSpPr>
        <p:spPr>
          <a:xfrm>
            <a:off x="36576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7CA8"/>
                </a:solidFill>
                <a:latin typeface="Calibri" pitchFamily="34" charset="0"/>
                <a:cs typeface="Calibri" pitchFamily="34" charset="-120"/>
              </a:rPr>
              <a:t>By Vickey Panjiyar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804672"/>
          </a:xfrm>
          <a:prstGeom prst="rect">
            <a:avLst/>
          </a:prstGeom>
          <a:solidFill>
            <a:srgbClr val="EEF3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SmartKYC automates the entire Know Your Customer pipeline — from document upload to human review decision — using a multi-agent AI architecture built on FastAPI, SQLAlchemy, and Gemini Vision.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828800"/>
            <a:ext cx="20116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24128" y="1938528"/>
            <a:ext cx="512064" cy="512064"/>
          </a:xfrm>
          <a:prstGeom prst="ellipse">
            <a:avLst/>
          </a:prstGeom>
          <a:solidFill>
            <a:srgbClr val="3B6ECC">
              <a:alpha val="85000"/>
            </a:srgbClr>
          </a:solidFill>
          <a:ln w="12700">
            <a:solidFill>
              <a:srgbClr val="3B6EC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24128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7472" y="2560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6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Extraction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999232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 reads passports, Aadhaar, PAN, Emirates ID and 15+ doc types with field-level confidence scoring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50592" y="1828800"/>
            <a:ext cx="20116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0" y="1938528"/>
            <a:ext cx="512064" cy="512064"/>
          </a:xfrm>
          <a:prstGeom prst="ellipse">
            <a:avLst/>
          </a:prstGeom>
          <a:solidFill>
            <a:srgbClr val="0D9488">
              <a:alpha val="85000"/>
            </a:srgbClr>
          </a:solidFill>
          <a:ln w="12700">
            <a:solidFill>
              <a:srgbClr val="0D9488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0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523744" y="2560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LLM-Driven Plans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42032" y="2999232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Gemini decides which investigation agents to spawn based on risk profile, nationality and subject type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26864" y="1828800"/>
            <a:ext cx="20116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376672" y="1938528"/>
            <a:ext cx="512064" cy="512064"/>
          </a:xfrm>
          <a:prstGeom prst="ellipse">
            <a:avLst/>
          </a:prstGeom>
          <a:solidFill>
            <a:srgbClr val="7C3AED">
              <a:alpha val="85000"/>
            </a:srgbClr>
          </a:solidFill>
          <a:ln w="12700">
            <a:solidFill>
              <a:srgbClr val="7C3AE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376672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00016" y="2560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Agents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18304" y="2999232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Sanctions, PEP, Registry, Adverse Media, Transactions agents run concurrently with auto-escalation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20116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552944" y="1938528"/>
            <a:ext cx="512064" cy="512064"/>
          </a:xfrm>
          <a:prstGeom prst="ellipse">
            <a:avLst/>
          </a:prstGeom>
          <a:solidFill>
            <a:srgbClr val="D97706">
              <a:alpha val="85000"/>
            </a:srgbClr>
          </a:solidFill>
          <a:ln w="12700">
            <a:solidFill>
              <a:srgbClr val="D9770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552944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76288" y="2560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94576" y="2999232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Risk-ranked queue routes cases to compliance officers; weighted scores feed the review decision workflow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426657-684C-B83F-BA2A-D4F651A3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598396-3DAA-8863-ED32-43A9B43A72DC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B6E614C-F2E3-C333-8F48-13C310A140D0}"/>
              </a:ext>
            </a:extLst>
          </p:cNvPr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B2A29FA-8F48-B2CA-259F-48C60BB8B202}"/>
              </a:ext>
            </a:extLst>
          </p:cNvPr>
          <p:cNvSpPr/>
          <p:nvPr/>
        </p:nvSpPr>
        <p:spPr>
          <a:xfrm>
            <a:off x="182880" y="777240"/>
            <a:ext cx="8778240" cy="841248"/>
          </a:xfrm>
          <a:prstGeom prst="rect">
            <a:avLst/>
          </a:prstGeom>
          <a:solidFill>
            <a:srgbClr val="D6E4FF"/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3935A8C-DA9A-0124-E1D3-6816B6D194C6}"/>
              </a:ext>
            </a:extLst>
          </p:cNvPr>
          <p:cNvSpPr/>
          <p:nvPr/>
        </p:nvSpPr>
        <p:spPr>
          <a:xfrm>
            <a:off x="365760" y="795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 ·  React + TypeScript + React Router</a:t>
            </a:r>
            <a:endParaRPr lang="en-US" sz="9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0F6A72C-E0F9-BF17-03ED-36D296080121}"/>
              </a:ext>
            </a:extLst>
          </p:cNvPr>
          <p:cNvSpPr/>
          <p:nvPr/>
        </p:nvSpPr>
        <p:spPr>
          <a:xfrm>
            <a:off x="347472" y="1097280"/>
            <a:ext cx="1335024" cy="402336"/>
          </a:xfrm>
          <a:prstGeom prst="rect">
            <a:avLst/>
          </a:prstGeom>
          <a:solidFill>
            <a:srgbClr val="3B6ECC">
              <a:alpha val="15000"/>
            </a:srgbClr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8870CBD-DACE-3908-423C-82C7B59D5690}"/>
              </a:ext>
            </a:extLst>
          </p:cNvPr>
          <p:cNvSpPr/>
          <p:nvPr/>
        </p:nvSpPr>
        <p:spPr>
          <a:xfrm>
            <a:off x="347472" y="1097280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8F007A0-2004-4213-DC64-3991F3A808A6}"/>
              </a:ext>
            </a:extLst>
          </p:cNvPr>
          <p:cNvSpPr/>
          <p:nvPr/>
        </p:nvSpPr>
        <p:spPr>
          <a:xfrm>
            <a:off x="1792224" y="1097280"/>
            <a:ext cx="1335024" cy="402336"/>
          </a:xfrm>
          <a:prstGeom prst="rect">
            <a:avLst/>
          </a:prstGeom>
          <a:solidFill>
            <a:srgbClr val="3B6ECC">
              <a:alpha val="15000"/>
            </a:srgbClr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923ECD2-A4FD-4157-8D84-23444409DFA2}"/>
              </a:ext>
            </a:extLst>
          </p:cNvPr>
          <p:cNvSpPr/>
          <p:nvPr/>
        </p:nvSpPr>
        <p:spPr>
          <a:xfrm>
            <a:off x="1792224" y="1097280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Case</a:t>
            </a:r>
            <a:endParaRPr lang="en-US" sz="9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8BB5D90-65BC-76C9-A644-87198594AA6C}"/>
              </a:ext>
            </a:extLst>
          </p:cNvPr>
          <p:cNvSpPr/>
          <p:nvPr/>
        </p:nvSpPr>
        <p:spPr>
          <a:xfrm>
            <a:off x="3236976" y="1097280"/>
            <a:ext cx="1335024" cy="402336"/>
          </a:xfrm>
          <a:prstGeom prst="rect">
            <a:avLst/>
          </a:prstGeom>
          <a:solidFill>
            <a:srgbClr val="3B6ECC">
              <a:alpha val="15000"/>
            </a:srgbClr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8D71038-06C1-1ED2-78AF-05ED7B06D37A}"/>
              </a:ext>
            </a:extLst>
          </p:cNvPr>
          <p:cNvSpPr/>
          <p:nvPr/>
        </p:nvSpPr>
        <p:spPr>
          <a:xfrm>
            <a:off x="3236976" y="1097280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List</a:t>
            </a:r>
            <a:endParaRPr lang="en-US" sz="9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A2ABCC1-E3BA-C013-A0E6-C6767A7312CF}"/>
              </a:ext>
            </a:extLst>
          </p:cNvPr>
          <p:cNvSpPr/>
          <p:nvPr/>
        </p:nvSpPr>
        <p:spPr>
          <a:xfrm>
            <a:off x="4681728" y="1097280"/>
            <a:ext cx="1335024" cy="402336"/>
          </a:xfrm>
          <a:prstGeom prst="rect">
            <a:avLst/>
          </a:prstGeom>
          <a:solidFill>
            <a:srgbClr val="3B6ECC">
              <a:alpha val="15000"/>
            </a:srgbClr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36D4286-5281-BD1F-DA4B-D9F8E15BC928}"/>
              </a:ext>
            </a:extLst>
          </p:cNvPr>
          <p:cNvSpPr/>
          <p:nvPr/>
        </p:nvSpPr>
        <p:spPr>
          <a:xfrm>
            <a:off x="4681728" y="1097280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Detail</a:t>
            </a:r>
            <a:endParaRPr lang="en-US" sz="9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8A9095F-5D67-C5B9-5DC4-7AA343BE6045}"/>
              </a:ext>
            </a:extLst>
          </p:cNvPr>
          <p:cNvSpPr/>
          <p:nvPr/>
        </p:nvSpPr>
        <p:spPr>
          <a:xfrm>
            <a:off x="6126480" y="1097280"/>
            <a:ext cx="1335024" cy="402336"/>
          </a:xfrm>
          <a:prstGeom prst="rect">
            <a:avLst/>
          </a:prstGeom>
          <a:solidFill>
            <a:srgbClr val="3B6ECC">
              <a:alpha val="15000"/>
            </a:srgbClr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3B53192-7AB7-36C6-3577-44A6B25BCA49}"/>
              </a:ext>
            </a:extLst>
          </p:cNvPr>
          <p:cNvSpPr/>
          <p:nvPr/>
        </p:nvSpPr>
        <p:spPr>
          <a:xfrm>
            <a:off x="6126480" y="1097280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</a:t>
            </a:r>
            <a:endParaRPr lang="en-US" sz="9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28C449F9-4911-94F3-8364-C5DD4AFD17DD}"/>
              </a:ext>
            </a:extLst>
          </p:cNvPr>
          <p:cNvSpPr/>
          <p:nvPr/>
        </p:nvSpPr>
        <p:spPr>
          <a:xfrm>
            <a:off x="7571232" y="1097280"/>
            <a:ext cx="1335024" cy="402336"/>
          </a:xfrm>
          <a:prstGeom prst="rect">
            <a:avLst/>
          </a:prstGeom>
          <a:solidFill>
            <a:srgbClr val="3B6ECC">
              <a:alpha val="15000"/>
            </a:srgbClr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B2561B7-6654-6C83-B9C8-805546D9B1EE}"/>
              </a:ext>
            </a:extLst>
          </p:cNvPr>
          <p:cNvSpPr/>
          <p:nvPr/>
        </p:nvSpPr>
        <p:spPr>
          <a:xfrm>
            <a:off x="7571232" y="1097280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Authorities</a:t>
            </a:r>
            <a:endParaRPr lang="en-US" sz="9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AD1AC6F-76CC-2A96-9738-233132F11902}"/>
              </a:ext>
            </a:extLst>
          </p:cNvPr>
          <p:cNvSpPr/>
          <p:nvPr/>
        </p:nvSpPr>
        <p:spPr>
          <a:xfrm>
            <a:off x="4572000" y="1645920"/>
            <a:ext cx="0" cy="164592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661DEB95-E80E-9180-409B-42080964413B}"/>
              </a:ext>
            </a:extLst>
          </p:cNvPr>
          <p:cNvSpPr/>
          <p:nvPr/>
        </p:nvSpPr>
        <p:spPr>
          <a:xfrm>
            <a:off x="182880" y="1828800"/>
            <a:ext cx="8778240" cy="749808"/>
          </a:xfrm>
          <a:prstGeom prst="rect">
            <a:avLst/>
          </a:prstGeom>
          <a:solidFill>
            <a:srgbClr val="D0FBF4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1E917A4-2D32-03EB-8221-CF96D2E42C46}"/>
              </a:ext>
            </a:extLst>
          </p:cNvPr>
          <p:cNvSpPr/>
          <p:nvPr/>
        </p:nvSpPr>
        <p:spPr>
          <a:xfrm>
            <a:off x="365760" y="1847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 ·  FastAPI + Python 3.9</a:t>
            </a:r>
            <a:endParaRPr lang="en-US" sz="9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28130E0-56B0-4A76-C342-281CB2B42038}"/>
              </a:ext>
            </a:extLst>
          </p:cNvPr>
          <p:cNvSpPr/>
          <p:nvPr/>
        </p:nvSpPr>
        <p:spPr>
          <a:xfrm>
            <a:off x="320040" y="2130552"/>
            <a:ext cx="1609344" cy="329184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92C0D6AD-1573-D0D1-A0A0-9B456DF6D48B}"/>
              </a:ext>
            </a:extLst>
          </p:cNvPr>
          <p:cNvSpPr/>
          <p:nvPr/>
        </p:nvSpPr>
        <p:spPr>
          <a:xfrm>
            <a:off x="320040" y="2130552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6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/api/cases</a:t>
            </a:r>
            <a:endParaRPr lang="en-US" sz="8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85E28536-7F32-B27F-6C5D-40FD103BF5AF}"/>
              </a:ext>
            </a:extLst>
          </p:cNvPr>
          <p:cNvSpPr/>
          <p:nvPr/>
        </p:nvSpPr>
        <p:spPr>
          <a:xfrm>
            <a:off x="2039112" y="2130552"/>
            <a:ext cx="1609344" cy="329184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167CF87-4BA1-7E66-FA4B-E9DF6C14187B}"/>
              </a:ext>
            </a:extLst>
          </p:cNvPr>
          <p:cNvSpPr/>
          <p:nvPr/>
        </p:nvSpPr>
        <p:spPr>
          <a:xfrm>
            <a:off x="2039112" y="2130552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6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/api/documents</a:t>
            </a:r>
            <a:endParaRPr lang="en-US" sz="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506B7E2-5514-C459-D90B-BE5599F53BAA}"/>
              </a:ext>
            </a:extLst>
          </p:cNvPr>
          <p:cNvSpPr/>
          <p:nvPr/>
        </p:nvSpPr>
        <p:spPr>
          <a:xfrm>
            <a:off x="3758184" y="2130552"/>
            <a:ext cx="1609344" cy="329184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97A0BD2-C654-FA85-39CE-78BFC69AABA3}"/>
              </a:ext>
            </a:extLst>
          </p:cNvPr>
          <p:cNvSpPr/>
          <p:nvPr/>
        </p:nvSpPr>
        <p:spPr>
          <a:xfrm>
            <a:off x="3758184" y="2130552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6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/api/reviews</a:t>
            </a:r>
            <a:endParaRPr lang="en-US" sz="8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FD8E07D4-869A-1D8A-8B17-3828C3A4EC2C}"/>
              </a:ext>
            </a:extLst>
          </p:cNvPr>
          <p:cNvSpPr/>
          <p:nvPr/>
        </p:nvSpPr>
        <p:spPr>
          <a:xfrm>
            <a:off x="5477256" y="2130552"/>
            <a:ext cx="1609344" cy="329184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D4F7BDF-6C30-EC41-E970-AE7C807F1B21}"/>
              </a:ext>
            </a:extLst>
          </p:cNvPr>
          <p:cNvSpPr/>
          <p:nvPr/>
        </p:nvSpPr>
        <p:spPr>
          <a:xfrm>
            <a:off x="5477256" y="2130552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6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/api/investigations</a:t>
            </a:r>
            <a:endParaRPr lang="en-US" sz="8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F31A1DB2-C053-47E6-25C5-3DE170AD6B6B}"/>
              </a:ext>
            </a:extLst>
          </p:cNvPr>
          <p:cNvSpPr/>
          <p:nvPr/>
        </p:nvSpPr>
        <p:spPr>
          <a:xfrm>
            <a:off x="7196328" y="2130552"/>
            <a:ext cx="1609344" cy="329184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809B39E-4E53-44FD-B020-776AA7F21DC7}"/>
              </a:ext>
            </a:extLst>
          </p:cNvPr>
          <p:cNvSpPr/>
          <p:nvPr/>
        </p:nvSpPr>
        <p:spPr>
          <a:xfrm>
            <a:off x="7196328" y="2130552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6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/api/authorities</a:t>
            </a:r>
            <a:endParaRPr lang="en-US" sz="8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75898481-05BF-86A7-929F-581DFC2B4F52}"/>
              </a:ext>
            </a:extLst>
          </p:cNvPr>
          <p:cNvSpPr/>
          <p:nvPr/>
        </p:nvSpPr>
        <p:spPr>
          <a:xfrm>
            <a:off x="4572000" y="2606040"/>
            <a:ext cx="0" cy="164592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79646CB-125B-9022-8314-8B9FD4E33D20}"/>
              </a:ext>
            </a:extLst>
          </p:cNvPr>
          <p:cNvSpPr/>
          <p:nvPr/>
        </p:nvSpPr>
        <p:spPr>
          <a:xfrm>
            <a:off x="182880" y="2788920"/>
            <a:ext cx="4297680" cy="1325880"/>
          </a:xfrm>
          <a:prstGeom prst="rect">
            <a:avLst/>
          </a:prstGeom>
          <a:solidFill>
            <a:srgbClr val="EEF0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78C5829-78DD-C38F-9898-9C352A009DE0}"/>
              </a:ext>
            </a:extLst>
          </p:cNvPr>
          <p:cNvSpPr/>
          <p:nvPr/>
        </p:nvSpPr>
        <p:spPr>
          <a:xfrm>
            <a:off x="320040" y="2807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9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365AB69E-F479-94A5-2E47-A39C9CF3B983}"/>
              </a:ext>
            </a:extLst>
          </p:cNvPr>
          <p:cNvSpPr/>
          <p:nvPr/>
        </p:nvSpPr>
        <p:spPr>
          <a:xfrm>
            <a:off x="320040" y="3108960"/>
            <a:ext cx="1261872" cy="32004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FE49A105-568F-CC85-12D1-DA14C26E6D45}"/>
              </a:ext>
            </a:extLst>
          </p:cNvPr>
          <p:cNvSpPr/>
          <p:nvPr/>
        </p:nvSpPr>
        <p:spPr>
          <a:xfrm>
            <a:off x="320040" y="31089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document_service</a:t>
            </a:r>
            <a:endParaRPr lang="en-US" sz="75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8BB871D5-35FD-F05A-84BA-3132EA771966}"/>
              </a:ext>
            </a:extLst>
          </p:cNvPr>
          <p:cNvSpPr/>
          <p:nvPr/>
        </p:nvSpPr>
        <p:spPr>
          <a:xfrm>
            <a:off x="1691640" y="3108960"/>
            <a:ext cx="1261872" cy="32004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AE78BFC-A2A3-3B4E-97C4-A00807D4C8C1}"/>
              </a:ext>
            </a:extLst>
          </p:cNvPr>
          <p:cNvSpPr/>
          <p:nvPr/>
        </p:nvSpPr>
        <p:spPr>
          <a:xfrm>
            <a:off x="1691640" y="31089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investigation_service</a:t>
            </a:r>
            <a:endParaRPr lang="en-US" sz="75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67F87DFE-0483-EF5D-BB4E-98F8B6804A2F}"/>
              </a:ext>
            </a:extLst>
          </p:cNvPr>
          <p:cNvSpPr/>
          <p:nvPr/>
        </p:nvSpPr>
        <p:spPr>
          <a:xfrm>
            <a:off x="3063240" y="3108960"/>
            <a:ext cx="1261872" cy="32004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237BCA6C-BFFC-1088-59D6-F2C0F77E4439}"/>
              </a:ext>
            </a:extLst>
          </p:cNvPr>
          <p:cNvSpPr/>
          <p:nvPr/>
        </p:nvSpPr>
        <p:spPr>
          <a:xfrm>
            <a:off x="3063240" y="31089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verification_service</a:t>
            </a:r>
            <a:endParaRPr lang="en-US" sz="75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FD38672-5C01-3A82-14A5-809C39C83786}"/>
              </a:ext>
            </a:extLst>
          </p:cNvPr>
          <p:cNvSpPr/>
          <p:nvPr/>
        </p:nvSpPr>
        <p:spPr>
          <a:xfrm>
            <a:off x="320040" y="35204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Router (Gemini / Anthropic / OpenAI)</a:t>
            </a:r>
            <a:endParaRPr lang="en-US" sz="9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70860080-54AE-1713-5D92-AB7C7435258E}"/>
              </a:ext>
            </a:extLst>
          </p:cNvPr>
          <p:cNvSpPr/>
          <p:nvPr/>
        </p:nvSpPr>
        <p:spPr>
          <a:xfrm>
            <a:off x="4663440" y="2788920"/>
            <a:ext cx="4297680" cy="1325880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974DB94B-4A3C-1148-8B98-D0FEFB5B9051}"/>
              </a:ext>
            </a:extLst>
          </p:cNvPr>
          <p:cNvSpPr/>
          <p:nvPr/>
        </p:nvSpPr>
        <p:spPr>
          <a:xfrm>
            <a:off x="4800600" y="2807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9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F3ED2677-3268-66A0-C499-19115456DDC3}"/>
              </a:ext>
            </a:extLst>
          </p:cNvPr>
          <p:cNvSpPr/>
          <p:nvPr/>
        </p:nvSpPr>
        <p:spPr>
          <a:xfrm>
            <a:off x="4773168" y="3108960"/>
            <a:ext cx="914400" cy="329184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6B9981D3-1E0C-C1A2-D67A-FD460D7609D1}"/>
              </a:ext>
            </a:extLst>
          </p:cNvPr>
          <p:cNvSpPr/>
          <p:nvPr/>
        </p:nvSpPr>
        <p:spPr>
          <a:xfrm>
            <a:off x="4773168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36067802-BD62-AF1B-4FE4-78C12DCE6404}"/>
              </a:ext>
            </a:extLst>
          </p:cNvPr>
          <p:cNvSpPr/>
          <p:nvPr/>
        </p:nvSpPr>
        <p:spPr>
          <a:xfrm>
            <a:off x="5797296" y="3108960"/>
            <a:ext cx="914400" cy="329184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771D52D6-A979-6C91-4D08-C06D98C3C28F}"/>
              </a:ext>
            </a:extLst>
          </p:cNvPr>
          <p:cNvSpPr/>
          <p:nvPr/>
        </p:nvSpPr>
        <p:spPr>
          <a:xfrm>
            <a:off x="5797296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</a:t>
            </a:r>
            <a:endParaRPr lang="en-US" sz="80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E2770BC3-99A3-282B-3D75-1A23717C11AF}"/>
              </a:ext>
            </a:extLst>
          </p:cNvPr>
          <p:cNvSpPr/>
          <p:nvPr/>
        </p:nvSpPr>
        <p:spPr>
          <a:xfrm>
            <a:off x="6821424" y="3108960"/>
            <a:ext cx="914400" cy="329184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B724A7DB-73A5-F666-9F7B-D861EAC27A6B}"/>
              </a:ext>
            </a:extLst>
          </p:cNvPr>
          <p:cNvSpPr/>
          <p:nvPr/>
        </p:nvSpPr>
        <p:spPr>
          <a:xfrm>
            <a:off x="6821424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</a:t>
            </a:r>
            <a:endParaRPr lang="en-US" sz="80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A62B55D3-039B-4482-D47E-C3ECCD3B9542}"/>
              </a:ext>
            </a:extLst>
          </p:cNvPr>
          <p:cNvSpPr/>
          <p:nvPr/>
        </p:nvSpPr>
        <p:spPr>
          <a:xfrm>
            <a:off x="7845552" y="3108960"/>
            <a:ext cx="914400" cy="329184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7786D7EA-4D9D-CE0D-FE6B-C43507861DE8}"/>
              </a:ext>
            </a:extLst>
          </p:cNvPr>
          <p:cNvSpPr/>
          <p:nvPr/>
        </p:nvSpPr>
        <p:spPr>
          <a:xfrm>
            <a:off x="7845552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800" dirty="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DA5D803A-4A7C-A423-5B12-640DC8515ABD}"/>
              </a:ext>
            </a:extLst>
          </p:cNvPr>
          <p:cNvSpPr/>
          <p:nvPr/>
        </p:nvSpPr>
        <p:spPr>
          <a:xfrm>
            <a:off x="4773168" y="3547872"/>
            <a:ext cx="914400" cy="329184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5C00EE69-241E-F880-0DA8-5EB17D739C29}"/>
              </a:ext>
            </a:extLst>
          </p:cNvPr>
          <p:cNvSpPr/>
          <p:nvPr/>
        </p:nvSpPr>
        <p:spPr>
          <a:xfrm>
            <a:off x="4773168" y="35478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2351551A-D1C6-DA1A-6A39-151364C71642}"/>
              </a:ext>
            </a:extLst>
          </p:cNvPr>
          <p:cNvSpPr/>
          <p:nvPr/>
        </p:nvSpPr>
        <p:spPr>
          <a:xfrm>
            <a:off x="5797296" y="3547872"/>
            <a:ext cx="914400" cy="329184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B9721A5A-0112-49E2-312F-2671FBE8C5FE}"/>
              </a:ext>
            </a:extLst>
          </p:cNvPr>
          <p:cNvSpPr/>
          <p:nvPr/>
        </p:nvSpPr>
        <p:spPr>
          <a:xfrm>
            <a:off x="5797296" y="35478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800" dirty="0"/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15C62E61-7574-B945-02E5-35F6E6BC7CBE}"/>
              </a:ext>
            </a:extLst>
          </p:cNvPr>
          <p:cNvSpPr/>
          <p:nvPr/>
        </p:nvSpPr>
        <p:spPr>
          <a:xfrm>
            <a:off x="6821424" y="3547872"/>
            <a:ext cx="914400" cy="329184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5F074687-E653-7540-4DDF-4967558A4703}"/>
              </a:ext>
            </a:extLst>
          </p:cNvPr>
          <p:cNvSpPr/>
          <p:nvPr/>
        </p:nvSpPr>
        <p:spPr>
          <a:xfrm>
            <a:off x="6821424" y="35478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800" dirty="0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B731BCE0-2EC0-8C08-FD9A-98D44882D285}"/>
              </a:ext>
            </a:extLst>
          </p:cNvPr>
          <p:cNvSpPr/>
          <p:nvPr/>
        </p:nvSpPr>
        <p:spPr>
          <a:xfrm>
            <a:off x="4572000" y="4133088"/>
            <a:ext cx="0" cy="164592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A1ED1FB7-E7BF-5957-FA96-01CA774E0050}"/>
              </a:ext>
            </a:extLst>
          </p:cNvPr>
          <p:cNvSpPr/>
          <p:nvPr/>
        </p:nvSpPr>
        <p:spPr>
          <a:xfrm>
            <a:off x="182880" y="4315968"/>
            <a:ext cx="8778240" cy="640080"/>
          </a:xfrm>
          <a:prstGeom prst="rect">
            <a:avLst/>
          </a:prstGeom>
          <a:solidFill>
            <a:srgbClr val="F0FFF8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295EA780-E27D-FA78-CAD0-77F3AA240667}"/>
              </a:ext>
            </a:extLst>
          </p:cNvPr>
          <p:cNvSpPr/>
          <p:nvPr/>
        </p:nvSpPr>
        <p:spPr>
          <a:xfrm>
            <a:off x="347472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 ·  SQLite / PostgreSQL via SQLAlchemy ORM  (Cases · Documents · DocumentExtractions · AgentResults · VerificationSources · HumanReviews · Events)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3854370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Architecture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777240"/>
            <a:ext cx="2743200" cy="749808"/>
          </a:xfrm>
          <a:prstGeom prst="rect">
            <a:avLst/>
          </a:prstGeom>
          <a:solidFill>
            <a:srgbClr val="EEF3FF"/>
          </a:solidFill>
          <a:ln w="12700">
            <a:solidFill>
              <a:srgbClr val="3B6ECC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0" y="777240"/>
            <a:ext cx="64008" cy="749808"/>
          </a:xfrm>
          <a:prstGeom prst="rect">
            <a:avLst/>
          </a:prstGeom>
          <a:solidFill>
            <a:srgbClr val="3B6ECC"/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310128" y="8321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6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BaseAgent (ABC)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10128" y="1115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run() → AgentResult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case_id, subject dict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1691640"/>
            <a:ext cx="2834640" cy="274320"/>
          </a:xfrm>
          <a:prstGeom prst="rect">
            <a:avLst/>
          </a:prstGeom>
          <a:solidFill>
            <a:srgbClr val="E53E3E">
              <a:alpha val="15000"/>
            </a:srgbClr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(always run)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2880" y="2029968"/>
            <a:ext cx="877824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3E3E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82880" y="2029968"/>
            <a:ext cx="877824" cy="64008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19456" y="2121408"/>
            <a:ext cx="804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15568" y="2029968"/>
            <a:ext cx="877824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3E3E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15568" y="2029968"/>
            <a:ext cx="877824" cy="64008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52144" y="2121408"/>
            <a:ext cx="804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048256" y="2029968"/>
            <a:ext cx="877824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3E3E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48256" y="2029968"/>
            <a:ext cx="877824" cy="64008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084832" y="2121408"/>
            <a:ext cx="804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0" y="1527048"/>
            <a:ext cx="0" cy="164592"/>
          </a:xfrm>
          <a:prstGeom prst="line">
            <a:avLst/>
          </a:prstGeom>
          <a:noFill/>
          <a:ln w="1270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0" y="1691640"/>
            <a:ext cx="2743200" cy="274320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9184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(auto-trigger)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0" y="2029968"/>
            <a:ext cx="877824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0" y="2029968"/>
            <a:ext cx="877824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36976" y="2121408"/>
            <a:ext cx="804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33088" y="2029968"/>
            <a:ext cx="877824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133088" y="2029968"/>
            <a:ext cx="877824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69664" y="2121408"/>
            <a:ext cx="804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0" y="1527048"/>
            <a:ext cx="0" cy="164592"/>
          </a:xfrm>
          <a:prstGeom prst="line">
            <a:avLst/>
          </a:prstGeom>
          <a:noFill/>
          <a:ln w="1270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217920" y="1691640"/>
            <a:ext cx="2743200" cy="27432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0936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(LLM-decided)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2029968"/>
            <a:ext cx="877824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217920" y="2029968"/>
            <a:ext cx="877824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254496" y="2121408"/>
            <a:ext cx="804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0" y="1527048"/>
            <a:ext cx="0" cy="164592"/>
          </a:xfrm>
          <a:prstGeom prst="line">
            <a:avLst/>
          </a:prstGeom>
          <a:noFill/>
          <a:ln w="1270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200400" y="3291840"/>
            <a:ext cx="2743200" cy="841248"/>
          </a:xfrm>
          <a:prstGeom prst="rect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200400" y="3291840"/>
            <a:ext cx="64008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310128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Aggregation Agent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10128" y="36210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formula across all agent scores → final risk_score (0–100) + risk_level (low/medium/high/critical)</a:t>
            </a:r>
            <a:endParaRPr lang="en-US" sz="900" dirty="0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D7B1036-A9E4-94D6-86B3-9B7027243790}"/>
              </a:ext>
            </a:extLst>
          </p:cNvPr>
          <p:cNvGrpSpPr/>
          <p:nvPr/>
        </p:nvGrpSpPr>
        <p:grpSpPr>
          <a:xfrm>
            <a:off x="6112764" y="3134854"/>
            <a:ext cx="2834640" cy="1965960"/>
            <a:chOff x="6080760" y="2194560"/>
            <a:chExt cx="2834640" cy="1965960"/>
          </a:xfrm>
        </p:grpSpPr>
        <p:sp>
          <p:nvSpPr>
            <p:cNvPr id="39" name="Shape 37"/>
            <p:cNvSpPr/>
            <p:nvPr/>
          </p:nvSpPr>
          <p:spPr>
            <a:xfrm>
              <a:off x="6080760" y="2194560"/>
              <a:ext cx="2834640" cy="1965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6E0F4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217920" y="2240280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A2B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Weights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263640" y="2542032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A5E7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sanctions_agent</a:t>
              </a:r>
              <a:endParaRPr lang="en-US" sz="9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8183880" y="2569464"/>
              <a:ext cx="594360" cy="173736"/>
            </a:xfrm>
            <a:prstGeom prst="rect">
              <a:avLst/>
            </a:prstGeom>
            <a:solidFill>
              <a:srgbClr val="1A2B4A">
                <a:alpha val="12000"/>
              </a:srgbClr>
            </a:solidFill>
            <a:ln w="12700">
              <a:solidFill>
                <a:srgbClr val="1A2B4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263640" y="2788920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A5E7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pep_agent</a:t>
              </a:r>
              <a:endParaRPr lang="en-US" sz="9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8183880" y="2816352"/>
              <a:ext cx="594360" cy="173736"/>
            </a:xfrm>
            <a:prstGeom prst="rect">
              <a:avLst/>
            </a:prstGeom>
            <a:solidFill>
              <a:srgbClr val="1A2B4A">
                <a:alpha val="12000"/>
              </a:srgbClr>
            </a:solidFill>
            <a:ln w="12700">
              <a:solidFill>
                <a:srgbClr val="1A2B4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 45"/>
            <p:cNvSpPr/>
            <p:nvPr/>
          </p:nvSpPr>
          <p:spPr>
            <a:xfrm>
              <a:off x="6263640" y="3035808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A5E7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identity_agent</a:t>
              </a:r>
              <a:endParaRPr lang="en-US" sz="9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8183880" y="3063240"/>
              <a:ext cx="594360" cy="173736"/>
            </a:xfrm>
            <a:prstGeom prst="rect">
              <a:avLst/>
            </a:prstGeom>
            <a:solidFill>
              <a:srgbClr val="1A2B4A">
                <a:alpha val="12000"/>
              </a:srgbClr>
            </a:solidFill>
            <a:ln w="12700">
              <a:solidFill>
                <a:srgbClr val="1A2B4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 47"/>
            <p:cNvSpPr/>
            <p:nvPr/>
          </p:nvSpPr>
          <p:spPr>
            <a:xfrm>
              <a:off x="8183880" y="3063240"/>
              <a:ext cx="594360" cy="173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1A2B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15%</a:t>
              </a:r>
              <a:endParaRPr lang="en-US" sz="8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6263640" y="3282696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A5E7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registry_agent</a:t>
              </a:r>
              <a:endParaRPr lang="en-US" sz="90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8183880" y="3310128"/>
              <a:ext cx="594360" cy="173736"/>
            </a:xfrm>
            <a:prstGeom prst="rect">
              <a:avLst/>
            </a:prstGeom>
            <a:solidFill>
              <a:srgbClr val="1A2B4A">
                <a:alpha val="12000"/>
              </a:srgbClr>
            </a:solidFill>
            <a:ln w="12700">
              <a:solidFill>
                <a:srgbClr val="1A2B4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 51"/>
            <p:cNvSpPr/>
            <p:nvPr/>
          </p:nvSpPr>
          <p:spPr>
            <a:xfrm>
              <a:off x="6263640" y="3529584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A5E7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adverse_media</a:t>
              </a:r>
              <a:endParaRPr lang="en-US" sz="900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8183880" y="3557016"/>
              <a:ext cx="594360" cy="173736"/>
            </a:xfrm>
            <a:prstGeom prst="rect">
              <a:avLst/>
            </a:prstGeom>
            <a:solidFill>
              <a:srgbClr val="1A2B4A">
                <a:alpha val="12000"/>
              </a:srgbClr>
            </a:solidFill>
            <a:ln w="12700">
              <a:solidFill>
                <a:srgbClr val="1A2B4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 54"/>
            <p:cNvSpPr/>
            <p:nvPr/>
          </p:nvSpPr>
          <p:spPr>
            <a:xfrm>
              <a:off x="6263640" y="3776472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A5E7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transactions</a:t>
              </a:r>
              <a:endParaRPr lang="en-US" sz="9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8183880" y="3803904"/>
              <a:ext cx="594360" cy="173736"/>
            </a:xfrm>
            <a:prstGeom prst="rect">
              <a:avLst/>
            </a:prstGeom>
            <a:solidFill>
              <a:srgbClr val="1A2B4A">
                <a:alpha val="12000"/>
              </a:srgbClr>
            </a:solidFill>
            <a:ln w="12700">
              <a:solidFill>
                <a:srgbClr val="1A2B4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5C4A80D-45D8-0AAD-B26A-EB0814C5FDF2}"/>
              </a:ext>
            </a:extLst>
          </p:cNvPr>
          <p:cNvGrpSpPr/>
          <p:nvPr/>
        </p:nvGrpSpPr>
        <p:grpSpPr>
          <a:xfrm>
            <a:off x="8238744" y="3509758"/>
            <a:ext cx="594360" cy="1408176"/>
            <a:chOff x="8183880" y="2569464"/>
            <a:chExt cx="594360" cy="1408176"/>
          </a:xfrm>
        </p:grpSpPr>
        <p:sp>
          <p:nvSpPr>
            <p:cNvPr id="43" name="Text 41"/>
            <p:cNvSpPr/>
            <p:nvPr/>
          </p:nvSpPr>
          <p:spPr>
            <a:xfrm>
              <a:off x="8183880" y="2569464"/>
              <a:ext cx="594360" cy="173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1A2B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30%</a:t>
              </a:r>
              <a:endParaRPr lang="en-US" sz="8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183880" y="2816352"/>
              <a:ext cx="594360" cy="173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1A2B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25%</a:t>
              </a:r>
              <a:endParaRPr lang="en-US" sz="8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8183880" y="3310128"/>
              <a:ext cx="594360" cy="173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1A2B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15%</a:t>
              </a:r>
              <a:endParaRPr lang="en-US" sz="8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183880" y="3557016"/>
              <a:ext cx="594360" cy="173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1A2B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10%</a:t>
              </a:r>
              <a:endParaRPr lang="en-US" sz="8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8183880" y="3803904"/>
              <a:ext cx="594360" cy="173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1A2B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5%</a:t>
              </a:r>
              <a:endParaRPr lang="en-US" sz="800" dirty="0"/>
            </a:p>
          </p:txBody>
        </p:sp>
      </p:grpSp>
      <p:sp>
        <p:nvSpPr>
          <p:cNvPr id="59" name="Shape 57"/>
          <p:cNvSpPr/>
          <p:nvPr/>
        </p:nvSpPr>
        <p:spPr>
          <a:xfrm>
            <a:off x="182880" y="3291840"/>
            <a:ext cx="2834640" cy="841248"/>
          </a:xfrm>
          <a:prstGeom prst="rect">
            <a:avLst/>
          </a:prstGeom>
          <a:solidFill>
            <a:srgbClr val="FEE2E2"/>
          </a:solidFill>
          <a:ln w="12700">
            <a:solidFill>
              <a:srgbClr val="E53E3E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320040" y="3337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Escalation Loop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320040" y="36210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agent score ≥70, LLM is consulted on whether to run remaining optional agents before aggregation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8"/>
          <p:cNvSpPr/>
          <p:nvPr/>
        </p:nvSpPr>
        <p:spPr>
          <a:xfrm>
            <a:off x="2414016" y="822960"/>
            <a:ext cx="2057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Investigation Flow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01168" y="822960"/>
            <a:ext cx="2057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50976" y="914400"/>
            <a:ext cx="566928" cy="566928"/>
          </a:xfrm>
          <a:prstGeom prst="ellipse">
            <a:avLst/>
          </a:prstGeom>
          <a:solidFill>
            <a:srgbClr val="3B6ECC">
              <a:alpha val="90000"/>
            </a:srgbClr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50976" y="914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505456" y="1971975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officer verifies subject name, type, nationality, notes via 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 err="1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CasePage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58568" y="1737360"/>
            <a:ext cx="155448" cy="0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163824" y="914400"/>
            <a:ext cx="566928" cy="566928"/>
          </a:xfrm>
          <a:prstGeom prst="ellipse">
            <a:avLst/>
          </a:prstGeom>
          <a:solidFill>
            <a:srgbClr val="7C3AED">
              <a:alpha val="90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163824" y="914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56032" y="16106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Case Created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" y="1979297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sent to /api/documents/upload; </a:t>
            </a:r>
            <a:r>
              <a:rPr lang="en-US" sz="900" dirty="0">
                <a:solidFill>
                  <a:srgbClr val="4A5A7A"/>
                </a:solidFill>
              </a:rPr>
              <a:t>Gemini Vision + OCR reads passports, PAN, Aadhaar, driving licenses — extracts fields with confidence scores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71416" y="1737360"/>
            <a:ext cx="155448" cy="0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26864" y="822960"/>
            <a:ext cx="2057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376672" y="914400"/>
            <a:ext cx="566928" cy="566928"/>
          </a:xfrm>
          <a:prstGeom prst="ellipse">
            <a:avLst/>
          </a:prstGeom>
          <a:solidFill>
            <a:srgbClr val="0D9488">
              <a:alpha val="9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376672" y="914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00016" y="157276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LLM Plans Agents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18304" y="1993392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investigation_service calls LLM to decide mandatory + conditional + optional agents for this subject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684264" y="1737360"/>
            <a:ext cx="155448" cy="0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839712" y="822960"/>
            <a:ext cx="2057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589520" y="914400"/>
            <a:ext cx="566928" cy="566928"/>
          </a:xfrm>
          <a:prstGeom prst="ellipse">
            <a:avLst/>
          </a:prstGeom>
          <a:solidFill>
            <a:srgbClr val="D97706">
              <a:alpha val="90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589520" y="914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912864" y="157276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Agents Execute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31152" y="1993392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calls verification_service (OFAC, World-Check, Companies House, etc.) mock or real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01168" y="2852928"/>
            <a:ext cx="2057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50976" y="2944368"/>
            <a:ext cx="566928" cy="566928"/>
          </a:xfrm>
          <a:prstGeom prst="ellipse">
            <a:avLst/>
          </a:prstGeom>
          <a:solidFill>
            <a:srgbClr val="E53E3E">
              <a:alpha val="90000"/>
            </a:srgbClr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50976" y="2944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⬆️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74320" y="3602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Escalation Check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92608" y="4023360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agent scores ≥70, LLM decides whether to escalate unrun optional agents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14016" y="2852928"/>
            <a:ext cx="2057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163824" y="2944368"/>
            <a:ext cx="566928" cy="566928"/>
          </a:xfrm>
          <a:prstGeom prst="ellipse">
            <a:avLst/>
          </a:prstGeom>
          <a:solidFill>
            <a:srgbClr val="16A34A">
              <a:alpha val="90000"/>
            </a:srgbClr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163824" y="2944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2487168" y="3602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Risk Aggregation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505456" y="4023360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RiskAggregationAgent applies weighted formula; case risk_score + risk_level written to DB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26864" y="2852928"/>
            <a:ext cx="2057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376672" y="2944368"/>
            <a:ext cx="566928" cy="566928"/>
          </a:xfrm>
          <a:prstGeom prst="ellipse">
            <a:avLst/>
          </a:prstGeom>
          <a:solidFill>
            <a:srgbClr val="0D9488">
              <a:alpha val="9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376672" y="2944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4700016" y="3602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Human Review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718304" y="4023360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moves to review queue; compliance officer approves / rejects / escalates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555474" y="1627211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6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Document Upload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Extraction Pipeline  (document_service.py)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01168" y="777240"/>
            <a:ext cx="1371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B6ECC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01168" y="777240"/>
            <a:ext cx="1371600" cy="54864"/>
          </a:xfrm>
          <a:prstGeom prst="rect">
            <a:avLst/>
          </a:prstGeom>
          <a:solidFill>
            <a:srgbClr val="3B6ECC"/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5953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B6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File Read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74320" y="1261872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_read_file()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MIME type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72768" y="1481328"/>
            <a:ext cx="91440" cy="0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664208" y="777240"/>
            <a:ext cx="1371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64208" y="777240"/>
            <a:ext cx="137160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37360" y="85953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Gemini Vision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37360" y="1261872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path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image to Gemini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035808" y="1481328"/>
            <a:ext cx="91440" cy="0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127248" y="777240"/>
            <a:ext cx="1371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127248" y="777240"/>
            <a:ext cx="13716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0" y="85953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Tesseract OCR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00400" y="1261872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if Vision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available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98848" y="1481328"/>
            <a:ext cx="91440" cy="0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90288" y="777240"/>
            <a:ext cx="1371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90288" y="777240"/>
            <a:ext cx="137160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63440" y="85953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MRZ Parser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663440" y="1261872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ICAO MRZ lines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structured fields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61888" y="1481328"/>
            <a:ext cx="91440" cy="0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053328" y="777240"/>
            <a:ext cx="1371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3E3E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53328" y="777240"/>
            <a:ext cx="1371600" cy="54864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126480" y="85953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Regex Parsers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126480" y="1261872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Doc-type specific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424928" y="1481328"/>
            <a:ext cx="91440" cy="0"/>
          </a:xfrm>
          <a:prstGeom prst="line">
            <a:avLst/>
          </a:prstGeom>
          <a:noFill/>
          <a:ln w="19050">
            <a:solidFill>
              <a:srgbClr val="8A9B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516368" y="777240"/>
            <a:ext cx="1371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516368" y="777240"/>
            <a:ext cx="137160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589520" y="85953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Build Result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89520" y="1261872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_build_result()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2880" y="2395728"/>
            <a:ext cx="8778240" cy="594360"/>
          </a:xfrm>
          <a:prstGeom prst="rect">
            <a:avLst/>
          </a:prstGeom>
          <a:solidFill>
            <a:srgbClr val="EEF3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65760" y="2423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Supported Document Schemas: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27249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 Aadhaar/PAN/Passport/Voter/DL   ·   🇬🇧 UK Passport/DVLA   ·   🇺🇸 US Passport/DL   ·   🇦🇪 Emirates ID/Passport   ·   🇷🇺 Russian Passport   ·   🇨🇳 Chinese Passport/ID   ·   🇪🇺 EU Passport/NID   ·   🏢 Company Registration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Confidence by Method: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5760" y="3493008"/>
            <a:ext cx="157276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38912" y="3566160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38912" y="3931920"/>
            <a:ext cx="1426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438912" y="448056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confidence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084832" y="3493008"/>
            <a:ext cx="157276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157984" y="3566160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 Parser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157984" y="3931920"/>
            <a:ext cx="1426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2157984" y="448056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confidence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803904" y="3493008"/>
            <a:ext cx="157276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877056" y="3566160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B6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Text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877056" y="3931920"/>
            <a:ext cx="1426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6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3877056" y="448056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confidence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522976" y="3493008"/>
            <a:ext cx="157276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596128" y="3566160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OCR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596128" y="3931920"/>
            <a:ext cx="1426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5596128" y="448056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confidence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242048" y="3493008"/>
            <a:ext cx="157276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315200" y="3566160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315200" y="3931920"/>
            <a:ext cx="1426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600" dirty="0"/>
          </a:p>
        </p:txBody>
      </p:sp>
      <p:sp>
        <p:nvSpPr>
          <p:cNvPr id="56" name="Text 54"/>
          <p:cNvSpPr/>
          <p:nvPr/>
        </p:nvSpPr>
        <p:spPr>
          <a:xfrm>
            <a:off x="7315200" y="448056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confidence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Authorities  (verification_service.py)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2880" y="777240"/>
            <a:ext cx="1664208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82880" y="777240"/>
            <a:ext cx="1664208" cy="347472"/>
          </a:xfrm>
          <a:prstGeom prst="rect">
            <a:avLst/>
          </a:prstGeom>
          <a:solidFill>
            <a:srgbClr val="E53E3E">
              <a:alpha val="15000"/>
            </a:srgbClr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777240"/>
            <a:ext cx="1517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Sanctions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1481328" cy="438912"/>
          </a:xfrm>
          <a:prstGeom prst="rect">
            <a:avLst/>
          </a:prstGeom>
          <a:solidFill>
            <a:srgbClr val="E53E3E">
              <a:alpha val="8000"/>
            </a:srgbClr>
          </a:solidFill>
          <a:ln w="12700">
            <a:solidFill>
              <a:srgbClr val="E53E3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10896" y="1188720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OFAC SDN (US)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1481328" cy="438912"/>
          </a:xfrm>
          <a:prstGeom prst="rect">
            <a:avLst/>
          </a:prstGeom>
          <a:solidFill>
            <a:srgbClr val="E53E3E">
              <a:alpha val="8000"/>
            </a:srgbClr>
          </a:solidFill>
          <a:ln w="12700">
            <a:solidFill>
              <a:srgbClr val="E53E3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0896" y="1719072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Consolidated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249424"/>
            <a:ext cx="1481328" cy="438912"/>
          </a:xfrm>
          <a:prstGeom prst="rect">
            <a:avLst/>
          </a:prstGeom>
          <a:solidFill>
            <a:srgbClr val="E53E3E">
              <a:alpha val="8000"/>
            </a:srgbClr>
          </a:solidFill>
          <a:ln w="12700">
            <a:solidFill>
              <a:srgbClr val="E53E3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10896" y="2249424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Financial Sanctions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779776"/>
            <a:ext cx="1481328" cy="438912"/>
          </a:xfrm>
          <a:prstGeom prst="rect">
            <a:avLst/>
          </a:prstGeom>
          <a:solidFill>
            <a:srgbClr val="E53E3E">
              <a:alpha val="8000"/>
            </a:srgbClr>
          </a:solidFill>
          <a:ln w="12700">
            <a:solidFill>
              <a:srgbClr val="E53E3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0896" y="2779776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 Treasury (UK only)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975104" y="777240"/>
            <a:ext cx="1664208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975104" y="777240"/>
            <a:ext cx="1664208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048256" y="777240"/>
            <a:ext cx="1517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PEP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66544" y="1188720"/>
            <a:ext cx="1481328" cy="438912"/>
          </a:xfrm>
          <a:prstGeom prst="rect">
            <a:avLst/>
          </a:prstGeom>
          <a:solidFill>
            <a:srgbClr val="7C3AED">
              <a:alpha val="8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103120" y="1188720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World-Check One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066544" y="1719072"/>
            <a:ext cx="1481328" cy="438912"/>
          </a:xfrm>
          <a:prstGeom prst="rect">
            <a:avLst/>
          </a:prstGeom>
          <a:solidFill>
            <a:srgbClr val="7C3AED">
              <a:alpha val="8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103120" y="1719072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LexisNexis WorldCompliance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767328" y="777240"/>
            <a:ext cx="1664208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767328" y="777240"/>
            <a:ext cx="1664208" cy="347472"/>
          </a:xfrm>
          <a:prstGeom prst="rect">
            <a:avLst/>
          </a:prstGeom>
          <a:solidFill>
            <a:srgbClr val="3B6ECC">
              <a:alpha val="15000"/>
            </a:srgbClr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840480" y="777240"/>
            <a:ext cx="1517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6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Registry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858768" y="1188720"/>
            <a:ext cx="1481328" cy="438912"/>
          </a:xfrm>
          <a:prstGeom prst="rect">
            <a:avLst/>
          </a:prstGeom>
          <a:solidFill>
            <a:srgbClr val="3B6ECC">
              <a:alpha val="8000"/>
            </a:srgbClr>
          </a:solidFill>
          <a:ln w="12700">
            <a:solidFill>
              <a:srgbClr val="3B6ECC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95344" y="1188720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House (UK)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58768" y="1719072"/>
            <a:ext cx="1481328" cy="438912"/>
          </a:xfrm>
          <a:prstGeom prst="rect">
            <a:avLst/>
          </a:prstGeom>
          <a:solidFill>
            <a:srgbClr val="3B6ECC">
              <a:alpha val="8000"/>
            </a:srgbClr>
          </a:solidFill>
          <a:ln w="12700">
            <a:solidFill>
              <a:srgbClr val="3B6ECC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895344" y="1719072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OpenCorporates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858768" y="2249424"/>
            <a:ext cx="1481328" cy="438912"/>
          </a:xfrm>
          <a:prstGeom prst="rect">
            <a:avLst/>
          </a:prstGeom>
          <a:solidFill>
            <a:srgbClr val="3B6ECC">
              <a:alpha val="8000"/>
            </a:srgbClr>
          </a:solidFill>
          <a:ln w="12700">
            <a:solidFill>
              <a:srgbClr val="3B6ECC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95344" y="2249424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MCA21 India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559552" y="777240"/>
            <a:ext cx="1664208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559552" y="777240"/>
            <a:ext cx="1664208" cy="347472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632704" y="777240"/>
            <a:ext cx="1517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🪪 Identity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50992" y="1188720"/>
            <a:ext cx="1481328" cy="438912"/>
          </a:xfrm>
          <a:prstGeom prst="rect">
            <a:avLst/>
          </a:prstGeom>
          <a:solidFill>
            <a:srgbClr val="0D9488">
              <a:alpha val="8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87568" y="1188720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 Aadhaar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50992" y="1719072"/>
            <a:ext cx="1481328" cy="438912"/>
          </a:xfrm>
          <a:prstGeom prst="rect">
            <a:avLst/>
          </a:prstGeom>
          <a:solidFill>
            <a:srgbClr val="0D9488">
              <a:alpha val="8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687568" y="1719072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PAN Verify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50992" y="2249424"/>
            <a:ext cx="1481328" cy="438912"/>
          </a:xfrm>
          <a:prstGeom prst="rect">
            <a:avLst/>
          </a:prstGeom>
          <a:solidFill>
            <a:srgbClr val="0D9488">
              <a:alpha val="8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687568" y="2249424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DVLA (UK)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650992" y="2779776"/>
            <a:ext cx="1481328" cy="438912"/>
          </a:xfrm>
          <a:prstGeom prst="rect">
            <a:avLst/>
          </a:prstGeom>
          <a:solidFill>
            <a:srgbClr val="0D9488">
              <a:alpha val="8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687568" y="2779776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ICAO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351776" y="777240"/>
            <a:ext cx="1664208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351776" y="777240"/>
            <a:ext cx="1664208" cy="347472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424928" y="777240"/>
            <a:ext cx="1517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Media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43216" y="1188720"/>
            <a:ext cx="1481328" cy="438912"/>
          </a:xfrm>
          <a:prstGeom prst="rect">
            <a:avLst/>
          </a:prstGeom>
          <a:solidFill>
            <a:srgbClr val="D97706">
              <a:alpha val="8000"/>
            </a:srgbClr>
          </a:solidFill>
          <a:ln w="12700">
            <a:solidFill>
              <a:srgbClr val="D9770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479792" y="1188720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News API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43216" y="1719072"/>
            <a:ext cx="1481328" cy="438912"/>
          </a:xfrm>
          <a:prstGeom prst="rect">
            <a:avLst/>
          </a:prstGeom>
          <a:solidFill>
            <a:srgbClr val="D97706">
              <a:alpha val="8000"/>
            </a:srgbClr>
          </a:solidFill>
          <a:ln w="12700">
            <a:solidFill>
              <a:srgbClr val="D9770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479792" y="1719072"/>
            <a:ext cx="1408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 Jones Risk &amp; Compliance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182880" y="4251960"/>
            <a:ext cx="8778240" cy="658368"/>
          </a:xfrm>
          <a:prstGeom prst="rect">
            <a:avLst/>
          </a:prstGeom>
          <a:solidFill>
            <a:srgbClr val="FEF9C3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84048" y="42976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MOCK vs REAL mode: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84048" y="4572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USE_MOCK_VERIFICATION=false in .env to switch all checks to real APIs. Per-authority API keys configured via environment variables. Automatic fallback to mock if key missing.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Schema  (models.py)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01168" y="777240"/>
            <a:ext cx="283464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01168" y="777240"/>
            <a:ext cx="2834640" cy="347472"/>
          </a:xfrm>
          <a:prstGeom prst="rect">
            <a:avLst/>
          </a:prstGeom>
          <a:solidFill>
            <a:srgbClr val="3B6ECC">
              <a:alpha val="20000"/>
            </a:srgbClr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92608" y="7772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6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9184" y="11704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id (PK)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9184" y="13990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case_number (unique)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9184" y="16276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subject_name/type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9184" y="18562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nationality, DOB, notes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9184" y="20848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status, risk_score, risk_level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9184" y="23134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investigation_plan (JSON)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9184" y="25420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created_at, updated_at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182112" y="777240"/>
            <a:ext cx="283464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182112" y="777240"/>
            <a:ext cx="2834640" cy="347472"/>
          </a:xfrm>
          <a:prstGeom prst="rect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73552" y="7772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10128" y="11704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id (PK)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0128" y="13990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case_id (FK)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10128" y="16276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filename, file_path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18562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document_type, country_of_issue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10128" y="20848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extraction_status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10128" y="23134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extracted_data (JSON)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10128" y="25420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raw_text, uploaded_at  [child: DocumentExtraction]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63056" y="777240"/>
            <a:ext cx="283464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163056" y="777240"/>
            <a:ext cx="2834640" cy="347472"/>
          </a:xfrm>
          <a:prstGeom prst="rect">
            <a:avLst/>
          </a:prstGeom>
          <a:solidFill>
            <a:srgbClr val="D97706">
              <a:alpha val="20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54496" y="7772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AgentResult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91072" y="11704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id (PK)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91072" y="13990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case_id (FK)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91072" y="16276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agent_name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91072" y="18562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risk_score, flags (JSON)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91072" y="20848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summary, confidence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91072" y="23134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evidence (JSON)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91072" y="254203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status, completed_at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01168" y="2898648"/>
            <a:ext cx="283464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01168" y="2898648"/>
            <a:ext cx="2834640" cy="347472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92608" y="28986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VerificationSource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29184" y="32918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id (PK)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9184" y="35204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case_id (FK)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29184" y="37490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source_name/type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9184" y="39776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result (clear/flagged/…)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29184" y="42062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result_detail (JSON)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9184" y="44348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is_mock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9184" y="46634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checked_at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182112" y="2898648"/>
            <a:ext cx="283464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182112" y="2898648"/>
            <a:ext cx="2834640" cy="347472"/>
          </a:xfrm>
          <a:prstGeom prst="rect">
            <a:avLst/>
          </a:prstGeom>
          <a:solidFill>
            <a:srgbClr val="16A34A">
              <a:alpha val="20000"/>
            </a:srgbClr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273552" y="28986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HumanReview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310128" y="32918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id (PK)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310128" y="35204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case_id (FK)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310128" y="37490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reviewer_name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310128" y="39776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decision (approved/…)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310128" y="42062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comments, risk_override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310128" y="44348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reviewed_at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63056" y="2898648"/>
            <a:ext cx="283464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163056" y="2898648"/>
            <a:ext cx="2834640" cy="347472"/>
          </a:xfrm>
          <a:prstGeom prst="rect">
            <a:avLst/>
          </a:prstGeom>
          <a:solidFill>
            <a:srgbClr val="E53E3E">
              <a:alpha val="20000"/>
            </a:srgbClr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254496" y="28986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InvestigationEvent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6291072" y="32918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id (PK)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291072" y="35204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case_id (FK)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91072" y="37490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event_type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291072" y="39776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event_data (JSON)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291072" y="420624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message, timestamp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Extend SmartKYC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01168" y="777240"/>
            <a:ext cx="429768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01168" y="777240"/>
            <a:ext cx="4297680" cy="54864"/>
          </a:xfrm>
          <a:prstGeom prst="rect">
            <a:avLst/>
          </a:prstGeom>
          <a:solidFill>
            <a:srgbClr val="3B6ECC"/>
          </a:solidFill>
          <a:ln w="12700">
            <a:solidFill>
              <a:srgbClr val="3B6E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01168" y="832104"/>
            <a:ext cx="54864" cy="1938528"/>
          </a:xfrm>
          <a:prstGeom prst="rect">
            <a:avLst/>
          </a:prstGeom>
          <a:solidFill>
            <a:srgbClr val="3B6ECC">
              <a:alpha val="15000"/>
            </a:srgbClr>
          </a:solidFill>
          <a:ln w="12700">
            <a:solidFill>
              <a:srgbClr val="3B6ECC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84048" y="8686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6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127101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class in agents.py extending BaseAgent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4048" y="1618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Implement async run() → AgentResult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19659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Register in AGENT_CATALOGUE (investigation_service.py)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84048" y="23134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Set tier: mandatory | conditional | optional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27448" y="777240"/>
            <a:ext cx="429768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27448" y="777240"/>
            <a:ext cx="429768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27448" y="832104"/>
            <a:ext cx="54864" cy="1938528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10328" y="8686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Document Type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10328" y="127101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Add schema entry in DOCUMENT_SCHEMAS (document_service.py)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10328" y="1618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Add filename patterns to detect_document_type_from_filename()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10328" y="19659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Add regex extractor function if needed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10328" y="23134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Add &lt;country&gt;_&lt;TYPE&gt; option in NewCasePage DOC_TYPES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01168" y="2880360"/>
            <a:ext cx="429768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01168" y="2880360"/>
            <a:ext cx="429768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01168" y="2935224"/>
            <a:ext cx="54864" cy="1938528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84048" y="29718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Mock to Real APIs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4048" y="337413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Set USE_MOCK_VERIFICATION=false in .env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84048" y="37216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Add API keys for desired authorities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84048" y="406908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Check _run_real() in verification_service.py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84048" y="441655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Test with real sandbox credentials first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27448" y="2880360"/>
            <a:ext cx="429768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727448" y="2880360"/>
            <a:ext cx="429768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2935224"/>
            <a:ext cx="54864" cy="1938528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10328" y="29718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LLM Provider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10328" y="337413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Set LLM_PROVIDER=anthropic|gemini|openai in .env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10328" y="37216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Add corresponding API key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910328" y="406908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llm_router.py routes automatically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910328" y="441655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For Vision: Gemini always used (only Vision provider)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30859-7470-6B1E-5F1E-EE9B4DE54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98122B-2141-A511-8525-32A529C73D28}"/>
              </a:ext>
            </a:extLst>
          </p:cNvPr>
          <p:cNvSpPr/>
          <p:nvPr/>
        </p:nvSpPr>
        <p:spPr>
          <a:xfrm>
            <a:off x="0" y="8456"/>
            <a:ext cx="9144000" cy="658368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EC3EC9-554C-7FFB-6874-80B33DDF880F}"/>
              </a:ext>
            </a:extLst>
          </p:cNvPr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SmartKYC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Run Screenshots &amp; DEMO</a:t>
            </a:r>
            <a:endParaRPr lang="en-US" sz="20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4D8B5902-8AF7-FF5C-CCEF-8BBFE59F6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3449" y="3111655"/>
            <a:ext cx="4594303" cy="203184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ED11B5B-4959-946A-7F32-7BA37C973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66" y="3211551"/>
            <a:ext cx="4269783" cy="1931949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1F411C0-7ACA-53D5-D75E-1E9364296A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5044" y="666824"/>
            <a:ext cx="4401016" cy="222924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B7935CC-34AC-079C-2296-5C5E3FDE30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58368"/>
            <a:ext cx="3910773" cy="255318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86DB726-85A6-FB62-1D47-F4B5528C50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1228" y="1409992"/>
            <a:ext cx="3202772" cy="1801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6022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3B6E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0" y="2926080"/>
            <a:ext cx="3200400" cy="32004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01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E9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SmartKYC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Let's discuss.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05954" y="2743200"/>
            <a:ext cx="3452046" cy="840356"/>
          </a:xfrm>
          <a:prstGeom prst="rect">
            <a:avLst/>
          </a:prstGeom>
          <a:solidFill>
            <a:srgbClr val="243557"/>
          </a:solidFill>
          <a:ln w="12700">
            <a:solidFill>
              <a:srgbClr val="3A5070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66160" y="28721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9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GITHUB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31464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</a:t>
            </a:r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github.ibm.com</a:t>
            </a: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AISolutions</a:t>
            </a: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SmartKYC</a:t>
            </a:r>
            <a:endParaRPr lang="en-US" sz="1200" b="1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429000" y="3767328"/>
            <a:ext cx="1920240" cy="822960"/>
          </a:xfrm>
          <a:prstGeom prst="rect">
            <a:avLst/>
          </a:prstGeom>
          <a:solidFill>
            <a:srgbClr val="243557"/>
          </a:solidFill>
          <a:ln w="12700">
            <a:solidFill>
              <a:srgbClr val="3A5070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E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6576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SmartKYC Compliance Platform  </a:t>
            </a:r>
            <a:endParaRPr lang="en-US" sz="9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D6C82CED-33EB-D365-8184-2D6152DEC93F}"/>
              </a:ext>
            </a:extLst>
          </p:cNvPr>
          <p:cNvSpPr/>
          <p:nvPr/>
        </p:nvSpPr>
        <p:spPr>
          <a:xfrm>
            <a:off x="3611880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9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By: 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Vickey Panjiyar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1281</TotalTime>
  <Words>1271</Words>
  <Application>Microsoft Macintosh PowerPoint</Application>
  <PresentationFormat>On-screen Show (16:9)</PresentationFormat>
  <Paragraphs>253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SmartKYC — AI-Powered KYC/AML Compliance Platform</dc:title>
  <dc:subject>PptxGenJS Presentation</dc:subject>
  <dc:creator>PptxGenJS</dc:creator>
  <cp:lastModifiedBy>Panjiyar, Vickey (CIO Enabling Services - Private Cloud Platform)</cp:lastModifiedBy>
  <cp:revision>9</cp:revision>
  <dcterms:created xsi:type="dcterms:W3CDTF">2026-03-24T16:16:29Z</dcterms:created>
  <dcterms:modified xsi:type="dcterms:W3CDTF">2026-04-17T06:05:25Z</dcterms:modified>
</cp:coreProperties>
</file>