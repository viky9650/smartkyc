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01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FED3-55DF-FD71-36EE-112D592E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C4159-A4A1-CBAC-8728-F0408BDB4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B6CDB-7E1B-63DF-04C4-CF311E196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D777C-C415-0958-EB93-224FBEFE7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71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457200" cy="404622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SmartKYC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KYC/AML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Platform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extraction · LLM-driven investigation agents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sanctions screening · Human-in-the-loop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25603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 &amp; Engineering Teams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04672"/>
          </a:xfrm>
          <a:prstGeom prst="rect">
            <a:avLst/>
          </a:prstGeom>
          <a:solidFill>
            <a:srgbClr val="EEF3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automates the entire Know Your Customer pipeline — from document upload to human review decision — using a multi-agent AI architecture built on FastAPI, SQLAlchemy, and Gemini Vision.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1938528"/>
            <a:ext cx="512064" cy="512064"/>
          </a:xfrm>
          <a:prstGeom prst="ellipse">
            <a:avLst/>
          </a:prstGeom>
          <a:solidFill>
            <a:srgbClr val="3B6ECC">
              <a:alpha val="85000"/>
            </a:srgbClr>
          </a:solidFill>
          <a:ln w="12700">
            <a:solidFill>
              <a:srgbClr val="3B6EC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passports, Aadhaar, PAN, Emirates ID and 15+ doc types with field-level confidence scoring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38528"/>
            <a:ext cx="512064" cy="512064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Plans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decides which investigation agents to spawn based on risk profile, nationality and subject type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76672" y="1938528"/>
            <a:ext cx="512064" cy="512064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Registry, Adverse Media, Transactions agents run concurrently with auto-escalation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828800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52944" y="1938528"/>
            <a:ext cx="512064" cy="512064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52944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299923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queue routes cases to compliance officers; weighted scores feed the review decision workflow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841248"/>
          </a:xfrm>
          <a:prstGeom prst="rect">
            <a:avLst/>
          </a:prstGeom>
          <a:solidFill>
            <a:srgbClr val="D6E4FF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React + TypeScript + React Router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92224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92224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6976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36976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81728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Detail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71232" y="1097280"/>
            <a:ext cx="1335024" cy="402336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71232" y="109728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1828800"/>
            <a:ext cx="8778240" cy="749808"/>
          </a:xfrm>
          <a:prstGeom prst="rect">
            <a:avLst/>
          </a:prstGeom>
          <a:solidFill>
            <a:srgbClr val="D0FB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·  FastAPI + Python 3.12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/api/cases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39112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39112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/api/documents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58184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58184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/api/reviews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77256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77256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/api/investigations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96328" y="2130552"/>
            <a:ext cx="1609344" cy="32918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96328" y="213055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/api/authorities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606040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2788920"/>
            <a:ext cx="42976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document_service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916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916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investigation_service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63240" y="3108960"/>
            <a:ext cx="1261872" cy="3200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63240" y="31089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verification_service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20040" y="3520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(Gemini / Anthropic / OpenAI)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788920"/>
            <a:ext cx="4297680" cy="13258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73168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97296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97296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21424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21424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845552" y="3108960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45552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73168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73168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797296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97296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21424" y="3547872"/>
            <a:ext cx="914400" cy="329184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21424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4133088"/>
            <a:ext cx="0" cy="164592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82880" y="4315968"/>
            <a:ext cx="87782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7472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SQLite / PostgreSQL via SQLAlchemy ORM  (Cases · Documents · AgentResults · VerificationSources · HumanReviews · Events)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Investigation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914400"/>
            <a:ext cx="566928" cy="566928"/>
          </a:xfrm>
          <a:prstGeom prst="ellipse">
            <a:avLst/>
          </a:prstGeom>
          <a:solidFill>
            <a:srgbClr val="3B6ECC">
              <a:alpha val="9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Case Created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enters subject name, type, nationality, notes via NewCasePage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58568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14016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63824" y="914400"/>
            <a:ext cx="566928" cy="566928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Document Upload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sent to /api/documents/upload; Gemini Vision extracts all fields with confidence scores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71416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76672" y="914400"/>
            <a:ext cx="566928" cy="566928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LLM Plans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investigation_service calls LLM to decide mandatory + conditional + optional agents for this subject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84264" y="1737360"/>
            <a:ext cx="155448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39712" y="822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914400"/>
            <a:ext cx="566928" cy="566928"/>
          </a:xfrm>
          <a:prstGeom prst="ellipse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12864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Agents Execute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1993392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calls verification_service (OFAC, World-Check, Companies House, etc.) mock or real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2944368"/>
            <a:ext cx="566928" cy="566928"/>
          </a:xfrm>
          <a:prstGeom prst="ellipse">
            <a:avLst/>
          </a:prstGeom>
          <a:solidFill>
            <a:srgbClr val="E53E3E">
              <a:alpha val="90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0976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⬆️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Escalation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agent scores ≥70, LLM decides whether to escalate unrun optional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14016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63824" y="2944368"/>
            <a:ext cx="566928" cy="566928"/>
          </a:xfrm>
          <a:prstGeom prst="ellipse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63824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487168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Risk Aggregation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05456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RiskAggregationAgent applies weighted formula; case risk_score + risk_level written to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285292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76672" y="2944368"/>
            <a:ext cx="566928" cy="566928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76672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00016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Human Review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18304" y="40233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moves to review queue; compliance officer approves / rejects / escalates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Deep Dive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 · Agents · LLM orchestration · Database models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File Structure &amp; Responsibilities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795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09928" y="813816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9928" y="813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10896" y="96012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factory, CORS middleware, route registration, DB init lifespan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11795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179576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197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09928" y="1216152"/>
            <a:ext cx="822960" cy="16459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09928" y="12161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10896" y="136245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Settings — DB URL, LLM provider/keys (Gemini/Anthropic/OpenAI), upload dir, mock mode toggle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" y="158191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1581912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" y="1600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09928" y="1618488"/>
            <a:ext cx="822960" cy="16459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09928" y="1618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10896" y="176479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ORM: Case, Document, DocumentExtraction, AgentResult, VerificationSource, HumanReview, InvestigationEvent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" y="19842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198424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" y="2002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09928" y="2020824"/>
            <a:ext cx="822960" cy="16459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09928" y="20208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10896" y="21671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engine, session factory, init_db() creates all tables on startup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1168" y="238658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2386584"/>
            <a:ext cx="54864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896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llm_router.py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09928" y="2423160"/>
            <a:ext cx="822960" cy="16459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09928" y="24231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10896" y="25694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LLMRouter class: routes text completions to Gemini/Anthropic/OpenAI + gemini_vision() for document image extraction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1168" y="2788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2788920"/>
            <a:ext cx="54864" cy="347472"/>
          </a:xfrm>
          <a:prstGeom prst="rect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0896" y="28072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09928" y="2825496"/>
            <a:ext cx="822960" cy="164592"/>
          </a:xfrm>
          <a:prstGeom prst="rect">
            <a:avLst/>
          </a:prstGeom>
          <a:solidFill>
            <a:srgbClr val="8A9BB8">
              <a:alpha val="20000"/>
            </a:srgbClr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09928" y="2825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10896" y="297180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structured stdout logging with timestamp + level + logger name format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27448" y="77724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27448" y="777240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37176" y="795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cases.py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36208" y="813816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36208" y="813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837176" y="96012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CRUD for cases, start-investigation trigger, dashboard summary with extraction data, events endpoint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27448" y="11795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27448" y="1179576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37176" y="1197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documents.py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36208" y="1216152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36208" y="12161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837176" y="136245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handler — saves to disk, calls extract_document(), persists Document + DocumentExtraction rows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27448" y="158191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27448" y="1581912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37176" y="1600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reviews.py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36208" y="1618488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36208" y="1618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837176" y="176479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 decision (approve/reject/on_hold/escalate), review queue query, history endpoint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27448" y="19842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27448" y="1984248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37176" y="2002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investigations.py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36208" y="2020824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36208" y="20208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837176" y="21671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live investigation status: case status, agent count, agents done, verification count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27448" y="238658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727448" y="2386584"/>
            <a:ext cx="54864" cy="34747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37176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authorities.py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36208" y="2423160"/>
            <a:ext cx="822960" cy="16459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36208" y="24231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837176" y="25694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15 verification authorities with mock/live status, API config state, and subject-based authority selector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777240"/>
            <a:ext cx="274320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3B6EC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64008" cy="749808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10128" y="832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BaseAgent (ABC)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10128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→ AgentResult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case_id, subject dict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2834640" cy="274320"/>
          </a:xfrm>
          <a:prstGeom prst="rect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(always run)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15568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5568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2144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48256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48256" y="2029968"/>
            <a:ext cx="877824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84832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(auto-trigger)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2029968"/>
            <a:ext cx="87782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3697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33088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33088" y="2029968"/>
            <a:ext cx="87782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69664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(LLM-decided)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029968"/>
            <a:ext cx="87782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2029968"/>
            <a:ext cx="87782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54496" y="2121408"/>
            <a:ext cx="804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1527048"/>
            <a:ext cx="0" cy="164592"/>
          </a:xfrm>
          <a:prstGeom prst="line">
            <a:avLst/>
          </a:prstGeom>
          <a:noFill/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3291840"/>
            <a:ext cx="2743200" cy="8412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0" y="3291840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10128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Aggregation Agent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10128" y="3621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 across all agent scores → final risk_score (0–100) + risk_level (low/medium/high/critical)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219456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Weights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sanctions_agent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83880" y="2569464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83880" y="2569464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364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pep_agent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83880" y="2816352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83880" y="2816352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63640" y="3035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identity_agent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83880" y="3063240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183880" y="306324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3282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registry_agent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83880" y="3310128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83880" y="3310128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63640" y="3529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adverse_media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83880" y="3557016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183880" y="3557016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63640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83880" y="3803904"/>
            <a:ext cx="594360" cy="173736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183880" y="3803904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" y="3291840"/>
            <a:ext cx="283464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004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Escalation Loop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0040" y="3621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agent score ≥70, LLM is consulted on whether to run remaining optional agents before aggregation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Pipeline  (document_service.py)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6EC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371600" cy="54864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File Read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_read_file()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MIME type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7276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6420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64208" y="77724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Gemini Vision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image to Gemini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3580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27248" y="77724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MRZ Parser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MRZ lines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fields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9884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028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777240"/>
            <a:ext cx="1371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Tesseract OCR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Vision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6188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5332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53328" y="777240"/>
            <a:ext cx="13716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Regex Parsers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Doc-type specific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24928" y="1481328"/>
            <a:ext cx="91440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16368" y="77724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16368" y="777240"/>
            <a:ext cx="1371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0" y="8595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Build Result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1261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_build_result()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395728"/>
            <a:ext cx="8778240" cy="594360"/>
          </a:xfrm>
          <a:prstGeom prst="rect">
            <a:avLst/>
          </a:prstGeom>
          <a:solidFill>
            <a:srgbClr val="EEF3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Supported Document Schemas: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27249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Aadhaar/PAN/Passport/Voter/DL   ·   🇬🇧 UK Passport/DVLA   ·   🇺🇸 US Passport/DL   ·   🇦🇪 Emirates ID/Passport   ·   🇷🇺 Russian Passport   ·   🇨🇳 Chinese Passport/ID   ·   🇪🇺 EU Passport/NID   ·   🏢 Company Registration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Confidence by Method: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38912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84832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57984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Parser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57984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2157984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03904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77056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77056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3877056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22976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96128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96128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5596128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42048" y="3493008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0" y="3566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3931920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315200" y="4480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Authorities  (verification_service.py)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64208" cy="347472"/>
          </a:xfrm>
          <a:prstGeom prst="rect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Sanctions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 (US)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Consolidated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Financial Sanctions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1481328" cy="438912"/>
          </a:xfrm>
          <a:prstGeom prst="rect">
            <a:avLst/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2779776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Treasury (UK)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75104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75104" y="777240"/>
            <a:ext cx="1664208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48256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66544" y="1188720"/>
            <a:ext cx="1481328" cy="438912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World-Check 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66544" y="1719072"/>
            <a:ext cx="1481328" cy="438912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03120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WorldCompliance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67328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67328" y="777240"/>
            <a:ext cx="1664208" cy="347472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Registry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58768" y="1188720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95344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(UK)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58768" y="1719072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95344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OpenCorporates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58768" y="2249424"/>
            <a:ext cx="1481328" cy="438912"/>
          </a:xfrm>
          <a:prstGeom prst="rect">
            <a:avLst/>
          </a:prstGeom>
          <a:solidFill>
            <a:srgbClr val="3B6ECC">
              <a:alpha val="8000"/>
            </a:srgbClr>
          </a:solidFill>
          <a:ln w="12700">
            <a:solidFill>
              <a:srgbClr val="3B6EC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95344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MCA21 India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59552" y="777240"/>
            <a:ext cx="1664208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32704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Identity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50992" y="1188720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87568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Aadhaar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50992" y="1719072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87568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PAN Verify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50992" y="2249424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87568" y="224942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DVLA (UK)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50992" y="2779776"/>
            <a:ext cx="1481328" cy="43891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87568" y="2779776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ICAO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51776" y="777240"/>
            <a:ext cx="166420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51776" y="777240"/>
            <a:ext cx="1664208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24928" y="7772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Media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43216" y="1188720"/>
            <a:ext cx="1481328" cy="438912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79792" y="118872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News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43216" y="1719072"/>
            <a:ext cx="1481328" cy="438912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79792" y="17190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 Risk &amp; Compliance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4251960"/>
            <a:ext cx="8778240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4048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MOCK vs REAL mode: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4048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USE_MOCK_VERIFICATION=false in .env to switch all checks to real APIs. Per-authority API keys configured via environment variables. Automatic fallback to mock if key missing.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Deep Dive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· Component hierarchy · API service layer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 &amp; Components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54864" cy="5303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813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" y="1033272"/>
            <a:ext cx="1920240" cy="164592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0332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850392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router with React Router v6 routes. Wraps all pages in &lt;Layout /&gt;.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1380744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380744"/>
            <a:ext cx="54864" cy="530352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DashboardPage.tsx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" y="1636776"/>
            <a:ext cx="1920240" cy="164592"/>
          </a:xfrm>
          <a:prstGeom prst="rect">
            <a:avLst/>
          </a:prstGeom>
          <a:solidFill>
            <a:srgbClr val="3B6ECC">
              <a:alpha val="12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16367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1453896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metrics, recent cases with inline extraction previews, risk distribution chart, status breakdown. Polls every 8s.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984248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1984248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" y="2020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NewCasePage.tsx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" y="2240280"/>
            <a:ext cx="1920240" cy="16459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" y="22402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/cases/new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2057400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form: subject info → doc upload with dropzone → real-time extraction preview → investigation launch.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2587752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2587752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" y="2624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CasesPage.tsx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" y="2843784"/>
            <a:ext cx="192024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28437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/cases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31720" y="2660904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Filterable/searchable case table with status badge, risk badge, creation date. Status filter tabs.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3191256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3191256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" y="3227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CaseDetailPage.tsx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" y="3447288"/>
            <a:ext cx="1920240" cy="16459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" y="34472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/cases/:id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31720" y="3264408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view: risk ring, subject profile, investigation plan, doc extraction panel, agent timeline, live event log. Auto-polls when investigating.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" y="3794760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3794760"/>
            <a:ext cx="54864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ReviewQueuePage.tsx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" y="4050792"/>
            <a:ext cx="1920240" cy="164592"/>
          </a:xfrm>
          <a:prstGeom prst="rect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" y="4050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31720" y="3867912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Split-panel review interface: queue list with risk scores on left, full case detail + ReviewPanel on right.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4398264"/>
            <a:ext cx="87416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01168" y="4398264"/>
            <a:ext cx="54864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9184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AuthoritiesPage.tsx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" y="4654296"/>
            <a:ext cx="1920240" cy="16459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" y="46542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/authorities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331720" y="4471416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verification authorities grouped by type. Shows mock/live status, API config, endpoint URLs.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&amp; Deployment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· Configuration · Environment setup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 (models.py)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834640" cy="347472"/>
          </a:xfrm>
          <a:prstGeom prst="rect">
            <a:avLst/>
          </a:prstGeom>
          <a:solidFill>
            <a:srgbClr val="3B6ECC">
              <a:alpha val="20000"/>
            </a:srgbClr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case_number (unique)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subject_name/type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nationality, DOB, notes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status, risk_score, risk_level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investigation_plan (JSON)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created_at, updated_at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777240"/>
            <a:ext cx="283464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filename, file_path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document_type, country_of_issue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extraction_status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extracted_data (JSON)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raw_text, uploaded_at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777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777240"/>
            <a:ext cx="2834640" cy="34747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AgentResult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1170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399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91072" y="16276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agent_name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18562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risk_score, flags (JSON)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0848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summary, confidence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72" y="23134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 (JSON)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91072" y="254203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status, completed_at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2898648"/>
            <a:ext cx="283464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VerificationSource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source_name/type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 (clear/flagged/…)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result_detail (JSON)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" y="4434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is_mock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" y="4663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checked_at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82112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182112" y="2898648"/>
            <a:ext cx="2834640" cy="34747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73552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HumanReview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10128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10128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10128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reviewer_name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10128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decision (approved/…)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10128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comments, risk_override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10128" y="4434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reviewed_at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63056" y="289864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63056" y="2898648"/>
            <a:ext cx="2834640" cy="347472"/>
          </a:xfrm>
          <a:prstGeom prst="rect">
            <a:avLst/>
          </a:prstGeom>
          <a:solidFill>
            <a:srgbClr val="E53E3E">
              <a:alpha val="20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54496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InvestigationEvent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91072" y="32918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(PK)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91072" y="35204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case_id (FK)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91072" y="37490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event_type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91072" y="3977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event_data (JSON)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91072" y="42062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message, timestamp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Quick Start  (config.py + requirements.txt)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429768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Configuration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LLM_PROVIDER=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| anthropic | openai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GEMINI_API_KEY=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your-gemini-key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865376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ANTHROPIC_API_KEY=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your-claude-key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231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0" y="2231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your-openai-key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523744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USE_MOCK_VERIFICATION=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77440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(dev) / false (prod)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77440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sqlite+aiosqlite:///./smartkyc.db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182112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OFAC_API_KEY=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real sanctions screening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547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WORLD_CHECK_API_KEY=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77440" y="3547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Refinitiv World-Check One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840480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8770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COMPANIES_HOUSE_API_KEY=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77440" y="38770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 Companies House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206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UPLOAD_DIR=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77440" y="4206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./uploads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4498848"/>
            <a:ext cx="4187952" cy="31089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4535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6E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MAX_FILE_SIZE_MB=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77440" y="4535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777240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77724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91456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(5 minutes)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91456" y="120700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91456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1207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install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+ pip install -r requirements.txt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91456" y="17465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91456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1746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1947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→  add Gemini API key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91456" y="22860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914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286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6636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app.main:app --reload --port 8000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91456" y="282549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91456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2825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frontend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66360" y="3026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install &amp;&amp; npm run dev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91456" y="33649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91456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66360" y="3566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91456" y="39044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91456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66360" y="3904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66360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Case → upload passport → launch investigation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91456" y="44439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91456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66360" y="4443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166360" y="4645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 → Case Detail → Review Queue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Team Members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guide · How to extend the platform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Extend SmartKYC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4297680" cy="54864"/>
          </a:xfrm>
          <a:prstGeom prst="rect">
            <a:avLst/>
          </a:prstGeom>
          <a:solidFill>
            <a:srgbClr val="3B6ECC"/>
          </a:solidFill>
          <a:ln w="12700">
            <a:solidFill>
              <a:srgbClr val="3B6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832104"/>
            <a:ext cx="54864" cy="1938528"/>
          </a:xfrm>
          <a:prstGeom prst="rect">
            <a:avLst/>
          </a:prstGeom>
          <a:solidFill>
            <a:srgbClr val="3B6ECC">
              <a:alpha val="15000"/>
            </a:srgbClr>
          </a:solidFill>
          <a:ln w="12700">
            <a:solidFill>
              <a:srgbClr val="3B6EC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71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class in agents.py extending BaseAgent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 async run() → AgentResult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Register in AGENT_CATALOGUE (investigation_service.py)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 tier: mandatory | conditional | optional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77724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777240"/>
            <a:ext cx="4297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27448" y="832104"/>
            <a:ext cx="54864" cy="193852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Document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271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schema entry in DOCUMENT_SCHEMAS (document_service.py)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0328" y="1618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filename patterns to detect_document_type_from_filename()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regex extractor function if needed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&lt;country&gt;_&lt;TYPE&gt; option in NewCasePage DOC_TYPES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88036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880360"/>
            <a:ext cx="4297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2935224"/>
            <a:ext cx="54864" cy="193852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Mock to Real APIs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374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USE_MOCK_VERIFICATION=false in .env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3721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API keys for desired authorities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_run_real() in verification_service.py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4416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with real sandbox credentials first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880360"/>
            <a:ext cx="42976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27448" y="2880360"/>
            <a:ext cx="4297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7448" y="2935224"/>
            <a:ext cx="54864" cy="193852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LLM Provider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3374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LLM_PROVIDER=anthropic|gemini|openai in .env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3721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corresponding API key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0328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llm_router.py routes automatically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0328" y="4416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Vision: Gemini always used (only Vision provider)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0859-7470-6B1E-5F1E-EE9B4DE5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98122B-2141-A511-8525-32A529C73D28}"/>
              </a:ext>
            </a:extLst>
          </p:cNvPr>
          <p:cNvSpPr/>
          <p:nvPr/>
        </p:nvSpPr>
        <p:spPr>
          <a:xfrm>
            <a:off x="0" y="8456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C3EC9-554C-7FFB-6874-80B33DDF880F}"/>
              </a:ext>
            </a:extLst>
          </p:cNvPr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Run Screenshots</a:t>
            </a:r>
            <a:endParaRPr lang="en-US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D8B5902-8AF7-FF5C-CCEF-8BBFE59F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449" y="3111655"/>
            <a:ext cx="4594303" cy="203184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ED11B5B-4959-946A-7F32-7BA37C973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6" y="3211551"/>
            <a:ext cx="4269783" cy="193194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1F411C0-7ACA-53D5-D75E-1E936429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044" y="666824"/>
            <a:ext cx="4401016" cy="222924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B7935CC-34AC-079C-2296-5C5E3FDE3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8368"/>
            <a:ext cx="3910773" cy="255318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86DB726-85A6-FB62-1D47-F4B5528C50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228" y="1409992"/>
            <a:ext cx="3202772" cy="18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0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6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1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SmartKYC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920240" cy="822960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README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github.com/your-org/smartkyc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063240"/>
            <a:ext cx="1920240" cy="822960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API 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localhost:8000/docs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1920240" cy="822960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.env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config.py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3063240"/>
            <a:ext cx="1920240" cy="822960"/>
          </a:xfrm>
          <a:prstGeom prst="rect">
            <a:avLst/>
          </a:prstGeom>
          <a:solidFill>
            <a:srgbClr val="243557"/>
          </a:solidFill>
          <a:ln w="12700">
            <a:solidFill>
              <a:srgbClr val="3A5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9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Add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agents.py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SmartKYC Compliance Platform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Microsoft Macintosh PowerPoint</Application>
  <PresentationFormat>On-screen Show (16:9)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SmartKYC — AI-Powered KYC/AML Compliance Platform</dc:title>
  <dc:subject>PptxGenJS Presentation</dc:subject>
  <dc:creator>PptxGenJS</dc:creator>
  <cp:lastModifiedBy>Panjiyar, Vickey (CIO Enabling Services - Private Cloud Platform)</cp:lastModifiedBy>
  <cp:revision>2</cp:revision>
  <dcterms:created xsi:type="dcterms:W3CDTF">2026-03-24T16:16:29Z</dcterms:created>
  <dcterms:modified xsi:type="dcterms:W3CDTF">2026-03-25T12:38:05Z</dcterms:modified>
</cp:coreProperties>
</file>